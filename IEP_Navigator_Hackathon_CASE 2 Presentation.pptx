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00" r:id="rId2"/>
    <p:sldId id="303" r:id="rId3"/>
    <p:sldId id="301" r:id="rId4"/>
    <p:sldId id="257" r:id="rId5"/>
    <p:sldId id="304" r:id="rId6"/>
    <p:sldId id="305" r:id="rId7"/>
    <p:sldId id="263" r:id="rId8"/>
    <p:sldId id="30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46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206240" cy="42062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sparkles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384048" cy="384048"/>
          </a:xfrm>
          <a:prstGeom prst="rect">
            <a:avLst/>
          </a:prstGeom>
        </p:spPr>
      </p:pic>
      <p:sp>
        <p:nvSpPr>
          <p:cNvPr id="5" name="Eyebrow"/>
          <p:cNvSpPr/>
          <p:nvPr/>
        </p:nvSpPr>
        <p:spPr>
          <a:xfrm>
            <a:off x="1298448" y="868680"/>
            <a:ext cx="9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FSI HACK4AUTISM 2026  ·  USE CASE #2</a:t>
            </a:r>
            <a:endParaRPr lang="en-US" sz="1300" dirty="0"/>
          </a:p>
        </p:txBody>
      </p:sp>
      <p:sp>
        <p:nvSpPr>
          <p:cNvPr id="6" name="Title"/>
          <p:cNvSpPr/>
          <p:nvPr/>
        </p:nvSpPr>
        <p:spPr>
          <a:xfrm>
            <a:off x="777240" y="1706880"/>
            <a:ext cx="9700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IEP</a:t>
            </a:r>
            <a:endParaRPr lang="en-US" sz="52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5200" dirty="0"/>
          </a:p>
        </p:txBody>
      </p:sp>
      <p:sp>
        <p:nvSpPr>
          <p:cNvPr id="7" name="Subtitle"/>
          <p:cNvSpPr/>
          <p:nvPr/>
        </p:nvSpPr>
        <p:spPr>
          <a:xfrm>
            <a:off x="804672" y="3886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Program Development &amp; Summarization — an advocacy companion that helps families understand, prepare for, and get more from the annual IEP process.</a:t>
            </a:r>
            <a:endParaRPr lang="en-US" sz="1700" dirty="0"/>
          </a:p>
        </p:txBody>
      </p:sp>
      <p:sp>
        <p:nvSpPr>
          <p:cNvPr id="8" name="Pill1"/>
          <p:cNvSpPr/>
          <p:nvPr/>
        </p:nvSpPr>
        <p:spPr>
          <a:xfrm>
            <a:off x="804672" y="5166360"/>
            <a:ext cx="3017520" cy="640080"/>
          </a:xfrm>
          <a:prstGeom prst="roundRect">
            <a:avLst>
              <a:gd name="adj" fmla="val 18000"/>
            </a:avLst>
          </a:prstGeom>
          <a:solidFill>
            <a:srgbClr val="12283D"/>
          </a:solidFill>
          <a:ln w="12700">
            <a:solidFill>
              <a:srgbClr val="0F766E"/>
            </a:solidFill>
            <a:prstDash val="solid"/>
          </a:ln>
        </p:spPr>
        <p:txBody>
          <a:bodyPr wrap="square" lIns="219456" tIns="0" rIns="9144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SERVICES AUTISM</a:t>
            </a:r>
            <a:endParaRPr lang="en-US" sz="1100" dirty="0"/>
          </a:p>
        </p:txBody>
      </p:sp>
      <p:sp>
        <p:nvSpPr>
          <p:cNvPr id="9" name="Pill2"/>
          <p:cNvSpPr/>
          <p:nvPr/>
        </p:nvSpPr>
        <p:spPr>
          <a:xfrm>
            <a:off x="3977640" y="5166360"/>
            <a:ext cx="2148840" cy="640080"/>
          </a:xfrm>
          <a:prstGeom prst="roundRect">
            <a:avLst>
              <a:gd name="adj" fmla="val 18000"/>
            </a:avLst>
          </a:prstGeom>
          <a:solidFill>
            <a:srgbClr val="12283D"/>
          </a:solidFill>
          <a:ln w="12700">
            <a:solidFill>
              <a:srgbClr val="0F766E"/>
            </a:solidFill>
            <a:prstDash val="solid"/>
          </a:ln>
        </p:spPr>
        <p:txBody>
          <a:bodyPr wrap="square" lIns="219456" tIns="0" rIns="9144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2026</a:t>
            </a:r>
            <a:endParaRPr lang="en-US" sz="1100" dirty="0"/>
          </a:p>
        </p:txBody>
      </p:sp>
      <p:sp>
        <p:nvSpPr>
          <p:cNvPr id="10" name="Pill3"/>
          <p:cNvSpPr/>
          <p:nvPr/>
        </p:nvSpPr>
        <p:spPr>
          <a:xfrm>
            <a:off x="6282360" y="5166360"/>
            <a:ext cx="1645920" cy="640080"/>
          </a:xfrm>
          <a:prstGeom prst="roundRect">
            <a:avLst>
              <a:gd name="adj" fmla="val 18000"/>
            </a:avLst>
          </a:prstGeom>
          <a:solidFill>
            <a:srgbClr val="12283D"/>
          </a:solidFill>
          <a:ln w="12700">
            <a:solidFill>
              <a:srgbClr val="0F766E"/>
            </a:solidFill>
            <a:prstDash val="solid"/>
          </a:ln>
        </p:spPr>
        <p:txBody>
          <a:bodyPr wrap="square" lIns="219456" tIns="0" rIns="9144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#2</a:t>
            </a:r>
            <a:endParaRPr lang="en-US" sz="1100" dirty="0"/>
          </a:p>
        </p:txBody>
      </p:sp>
      <p:sp>
        <p:nvSpPr>
          <p:cNvPr id="11" name="Footer"/>
          <p:cNvSpPr/>
          <p:nvPr/>
        </p:nvSpPr>
        <p:spPr>
          <a:xfrm>
            <a:off x="548640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4937760" cy="4937760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77240" y="585216"/>
            <a:ext cx="6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BUILT THIS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777240" y="841248"/>
            <a:ext cx="1063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IEP Meeting Decides the </a:t>
            </a:r>
            <a:r>
              <a:rPr lang="en-US" sz="3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Whole Year</a:t>
            </a:r>
            <a:endParaRPr lang="en-US" sz="3600" dirty="0"/>
          </a:p>
        </p:txBody>
      </p:sp>
      <p:sp>
        <p:nvSpPr>
          <p:cNvPr id="5" name="Intro"/>
          <p:cNvSpPr/>
          <p:nvPr/>
        </p:nvSpPr>
        <p:spPr>
          <a:xfrm>
            <a:off x="777240" y="1545336"/>
            <a:ext cx="1063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IEP is a legally binding plan a school produces each year for a child with special needs — negotiated in a single, dense, jargon-heavy meeting. Families walk in unprepared, and years of useful evidence never make it to the table.</a:t>
            </a:r>
            <a:endParaRPr lang="en-US" sz="1400" dirty="0"/>
          </a:p>
        </p:txBody>
      </p:sp>
      <p:sp>
        <p:nvSpPr>
          <p:cNvPr id="10" name="PCard0"/>
          <p:cNvSpPr/>
          <p:nvPr/>
        </p:nvSpPr>
        <p:spPr>
          <a:xfrm>
            <a:off x="777240" y="2331720"/>
            <a:ext cx="2487930" cy="3017520"/>
          </a:xfrm>
          <a:prstGeom prst="roundRect">
            <a:avLst>
              <a:gd name="adj" fmla="val 6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PIconBg0"/>
          <p:cNvSpPr/>
          <p:nvPr/>
        </p:nvSpPr>
        <p:spPr>
          <a:xfrm>
            <a:off x="1051560" y="260604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on0" descr="problem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2766060"/>
            <a:ext cx="365760" cy="365760"/>
          </a:xfrm>
          <a:prstGeom prst="rect">
            <a:avLst/>
          </a:prstGeom>
        </p:spPr>
      </p:pic>
      <p:sp>
        <p:nvSpPr>
          <p:cNvPr id="13" name="PHead0"/>
          <p:cNvSpPr/>
          <p:nvPr/>
        </p:nvSpPr>
        <p:spPr>
          <a:xfrm>
            <a:off x="1051560" y="3474720"/>
            <a:ext cx="19392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Parents Go In Blind</a:t>
            </a:r>
            <a:endParaRPr lang="en-US" sz="1500" dirty="0"/>
          </a:p>
        </p:txBody>
      </p:sp>
      <p:sp>
        <p:nvSpPr>
          <p:cNvPr id="14" name="PBody0"/>
          <p:cNvSpPr/>
          <p:nvPr/>
        </p:nvSpPr>
        <p:spPr>
          <a:xfrm>
            <a:off x="1051560" y="4160520"/>
            <a:ext cx="193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IEP is rarely shared in advance — families first see it across the table at the meeting itself.</a:t>
            </a:r>
            <a:endParaRPr lang="en-US" sz="1100" dirty="0"/>
          </a:p>
        </p:txBody>
      </p:sp>
      <p:sp>
        <p:nvSpPr>
          <p:cNvPr id="15" name="PCard1"/>
          <p:cNvSpPr/>
          <p:nvPr/>
        </p:nvSpPr>
        <p:spPr>
          <a:xfrm>
            <a:off x="3493770" y="2331720"/>
            <a:ext cx="2487930" cy="3017520"/>
          </a:xfrm>
          <a:prstGeom prst="roundRect">
            <a:avLst>
              <a:gd name="adj" fmla="val 6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PIconBg1"/>
          <p:cNvSpPr/>
          <p:nvPr/>
        </p:nvSpPr>
        <p:spPr>
          <a:xfrm>
            <a:off x="3768090" y="260604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Icon1" descr="proble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110" y="2766060"/>
            <a:ext cx="365760" cy="365760"/>
          </a:xfrm>
          <a:prstGeom prst="rect">
            <a:avLst/>
          </a:prstGeom>
        </p:spPr>
      </p:pic>
      <p:sp>
        <p:nvSpPr>
          <p:cNvPr id="18" name="PHead1"/>
          <p:cNvSpPr/>
          <p:nvPr/>
        </p:nvSpPr>
        <p:spPr>
          <a:xfrm>
            <a:off x="3768090" y="3474720"/>
            <a:ext cx="19392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Uneven Negotiation</a:t>
            </a:r>
            <a:endParaRPr lang="en-US" sz="1500" dirty="0"/>
          </a:p>
        </p:txBody>
      </p:sp>
      <p:sp>
        <p:nvSpPr>
          <p:cNvPr id="19" name="PBody1"/>
          <p:cNvSpPr/>
          <p:nvPr/>
        </p:nvSpPr>
        <p:spPr>
          <a:xfrm>
            <a:off x="3768090" y="4160520"/>
            <a:ext cx="193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legally binding and often contentious. Once agreed, the school must follow it; contesting it has real legal weight.</a:t>
            </a:r>
            <a:endParaRPr lang="en-US" sz="1100" dirty="0"/>
          </a:p>
        </p:txBody>
      </p:sp>
      <p:sp>
        <p:nvSpPr>
          <p:cNvPr id="20" name="PCard2"/>
          <p:cNvSpPr/>
          <p:nvPr/>
        </p:nvSpPr>
        <p:spPr>
          <a:xfrm>
            <a:off x="6210300" y="2331720"/>
            <a:ext cx="2487930" cy="3017520"/>
          </a:xfrm>
          <a:prstGeom prst="roundRect">
            <a:avLst>
              <a:gd name="adj" fmla="val 6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PIconBg2"/>
          <p:cNvSpPr/>
          <p:nvPr/>
        </p:nvSpPr>
        <p:spPr>
          <a:xfrm>
            <a:off x="6484620" y="260604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on2" descr="proble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2766060"/>
            <a:ext cx="365760" cy="365760"/>
          </a:xfrm>
          <a:prstGeom prst="rect">
            <a:avLst/>
          </a:prstGeom>
        </p:spPr>
      </p:pic>
      <p:sp>
        <p:nvSpPr>
          <p:cNvPr id="23" name="PHead2"/>
          <p:cNvSpPr/>
          <p:nvPr/>
        </p:nvSpPr>
        <p:spPr>
          <a:xfrm>
            <a:off x="6484620" y="3474720"/>
            <a:ext cx="19392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 &amp; Hard to Decode</a:t>
            </a:r>
            <a:endParaRPr lang="en-US" sz="1500" dirty="0"/>
          </a:p>
        </p:txBody>
      </p:sp>
      <p:sp>
        <p:nvSpPr>
          <p:cNvPr id="24" name="PBody2"/>
          <p:cNvSpPr/>
          <p:nvPr/>
        </p:nvSpPr>
        <p:spPr>
          <a:xfrm>
            <a:off x="6484620" y="4160520"/>
            <a:ext cx="193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IEPs read like legal documents. Without years of experience, the terminology simply does not make sense.</a:t>
            </a:r>
            <a:endParaRPr lang="en-US" sz="1100" dirty="0"/>
          </a:p>
        </p:txBody>
      </p:sp>
      <p:sp>
        <p:nvSpPr>
          <p:cNvPr id="25" name="PCard3"/>
          <p:cNvSpPr/>
          <p:nvPr/>
        </p:nvSpPr>
        <p:spPr>
          <a:xfrm>
            <a:off x="8926830" y="2331720"/>
            <a:ext cx="2487930" cy="3017520"/>
          </a:xfrm>
          <a:prstGeom prst="roundRect">
            <a:avLst>
              <a:gd name="adj" fmla="val 6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PIconBg3"/>
          <p:cNvSpPr/>
          <p:nvPr/>
        </p:nvSpPr>
        <p:spPr>
          <a:xfrm>
            <a:off x="9201150" y="260604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PIcon3" descr="proble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170" y="2766060"/>
            <a:ext cx="365760" cy="365760"/>
          </a:xfrm>
          <a:prstGeom prst="rect">
            <a:avLst/>
          </a:prstGeom>
        </p:spPr>
      </p:pic>
      <p:sp>
        <p:nvSpPr>
          <p:cNvPr id="28" name="PHead3"/>
          <p:cNvSpPr/>
          <p:nvPr/>
        </p:nvSpPr>
        <p:spPr>
          <a:xfrm>
            <a:off x="9201150" y="3474720"/>
            <a:ext cx="19392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Evidence</a:t>
            </a:r>
            <a:endParaRPr lang="en-US" sz="1500" dirty="0"/>
          </a:p>
        </p:txBody>
      </p:sp>
      <p:sp>
        <p:nvSpPr>
          <p:cNvPr id="29" name="PBody3"/>
          <p:cNvSpPr/>
          <p:nvPr/>
        </p:nvSpPr>
        <p:spPr>
          <a:xfrm>
            <a:off x="9201150" y="4160520"/>
            <a:ext cx="193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notes, evaluations and email threads — hundreds of pages of useful history never make it into the plan.</a:t>
            </a:r>
            <a:endParaRPr lang="en-US" sz="1100" dirty="0"/>
          </a:p>
        </p:txBody>
      </p:sp>
      <p:sp>
        <p:nvSpPr>
          <p:cNvPr id="60" name="Purpose"/>
          <p:cNvSpPr/>
          <p:nvPr/>
        </p:nvSpPr>
        <p:spPr>
          <a:xfrm>
            <a:off x="777240" y="5586984"/>
            <a:ext cx="10637520" cy="685800"/>
          </a:xfrm>
          <a:prstGeom prst="roundRect">
            <a:avLst>
              <a:gd name="adj" fmla="val 14000"/>
            </a:avLst>
          </a:prstGeom>
          <a:solidFill>
            <a:srgbClr val="0F766E">
              <a:alpha val="22000"/>
            </a:srgbClr>
          </a:solidFill>
          <a:ln w="12700">
            <a:solidFill>
              <a:srgbClr val="0F766E"/>
            </a:solidFill>
          </a:ln>
        </p:spPr>
        <p:txBody>
          <a:bodyPr wrap="square" lIns="274320" tIns="0" rIns="27432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purpose:  </a:t>
            </a: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fragmented history into clear, evidence-backed advocacy — so families walk into every IEP meeting informed, confident, and prepared.</a:t>
            </a:r>
            <a:endParaRPr lang="en-US" sz="1300" dirty="0"/>
          </a:p>
        </p:txBody>
      </p:sp>
      <p:sp>
        <p:nvSpPr>
          <p:cNvPr id="61" name="Footer"/>
          <p:cNvSpPr/>
          <p:nvPr/>
        </p:nvSpPr>
        <p:spPr>
          <a:xfrm>
            <a:off x="548640" y="65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4937760" cy="4937760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77240" y="713232"/>
            <a:ext cx="6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TEAM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777240" y="987552"/>
            <a:ext cx="10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 Behind the Build</a:t>
            </a:r>
            <a:endParaRPr lang="en-US" sz="3600" dirty="0"/>
          </a:p>
        </p:txBody>
      </p:sp>
      <p:sp>
        <p:nvSpPr>
          <p:cNvPr id="5" name="Intro"/>
          <p:cNvSpPr/>
          <p:nvPr/>
        </p:nvSpPr>
        <p:spPr>
          <a:xfrm>
            <a:off x="777240" y="1664208"/>
            <a:ext cx="1063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cross-functional team — including parents who live the IEP process every year — building advocacy tools for families.</a:t>
            </a:r>
            <a:endParaRPr lang="en-US" sz="1400" dirty="0"/>
          </a:p>
        </p:txBody>
      </p:sp>
      <p:sp>
        <p:nvSpPr>
          <p:cNvPr id="10" name="Card0"/>
          <p:cNvSpPr/>
          <p:nvPr/>
        </p:nvSpPr>
        <p:spPr>
          <a:xfrm>
            <a:off x="777240" y="2240280"/>
            <a:ext cx="3362960" cy="192024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vatar0"/>
          <p:cNvSpPr/>
          <p:nvPr/>
        </p:nvSpPr>
        <p:spPr>
          <a:xfrm>
            <a:off x="1097280" y="25603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</a:t>
            </a:r>
            <a:endParaRPr lang="en-US" sz="1600" dirty="0"/>
          </a:p>
        </p:txBody>
      </p:sp>
      <p:sp>
        <p:nvSpPr>
          <p:cNvPr id="12" name="Name0"/>
          <p:cNvSpPr/>
          <p:nvPr/>
        </p:nvSpPr>
        <p:spPr>
          <a:xfrm>
            <a:off x="1929384" y="2560320"/>
            <a:ext cx="1890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 1</a:t>
            </a:r>
            <a:endParaRPr lang="en-US" sz="1400" dirty="0"/>
          </a:p>
        </p:txBody>
      </p:sp>
      <p:sp>
        <p:nvSpPr>
          <p:cNvPr id="13" name="Role0"/>
          <p:cNvSpPr/>
          <p:nvPr/>
        </p:nvSpPr>
        <p:spPr>
          <a:xfrm>
            <a:off x="1929384" y="2889504"/>
            <a:ext cx="189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ADVOCACY LEAD</a:t>
            </a:r>
            <a:endParaRPr lang="en-US" sz="1000" dirty="0"/>
          </a:p>
        </p:txBody>
      </p:sp>
      <p:sp>
        <p:nvSpPr>
          <p:cNvPr id="14" name="Focus0"/>
          <p:cNvSpPr/>
          <p:nvPr/>
        </p:nvSpPr>
        <p:spPr>
          <a:xfrm>
            <a:off x="1097280" y="3493008"/>
            <a:ext cx="272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voice — shapes requirements from lived IEP experience.</a:t>
            </a:r>
            <a:endParaRPr lang="en-US" sz="1100" dirty="0"/>
          </a:p>
        </p:txBody>
      </p:sp>
      <p:sp>
        <p:nvSpPr>
          <p:cNvPr id="15" name="Card1"/>
          <p:cNvSpPr/>
          <p:nvPr/>
        </p:nvSpPr>
        <p:spPr>
          <a:xfrm>
            <a:off x="4414520" y="2240280"/>
            <a:ext cx="3362960" cy="192024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vatar1"/>
          <p:cNvSpPr/>
          <p:nvPr/>
        </p:nvSpPr>
        <p:spPr>
          <a:xfrm>
            <a:off x="4734560" y="25603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</a:t>
            </a:r>
            <a:endParaRPr lang="en-US" sz="1600" dirty="0"/>
          </a:p>
        </p:txBody>
      </p:sp>
      <p:sp>
        <p:nvSpPr>
          <p:cNvPr id="17" name="Name1"/>
          <p:cNvSpPr/>
          <p:nvPr/>
        </p:nvSpPr>
        <p:spPr>
          <a:xfrm>
            <a:off x="5566664" y="2560320"/>
            <a:ext cx="1890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 2</a:t>
            </a:r>
            <a:endParaRPr lang="en-US" sz="1400" dirty="0"/>
          </a:p>
        </p:txBody>
      </p:sp>
      <p:sp>
        <p:nvSpPr>
          <p:cNvPr id="18" name="Role1"/>
          <p:cNvSpPr/>
          <p:nvPr/>
        </p:nvSpPr>
        <p:spPr>
          <a:xfrm>
            <a:off x="5566664" y="2889504"/>
            <a:ext cx="189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ENGINEER</a:t>
            </a:r>
            <a:endParaRPr lang="en-US" sz="1000" dirty="0"/>
          </a:p>
        </p:txBody>
      </p:sp>
      <p:sp>
        <p:nvSpPr>
          <p:cNvPr id="19" name="Focus1"/>
          <p:cNvSpPr/>
          <p:nvPr/>
        </p:nvSpPr>
        <p:spPr>
          <a:xfrm>
            <a:off x="4734560" y="3493008"/>
            <a:ext cx="272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Gemini reasoning, summarization and comparison agents.</a:t>
            </a:r>
            <a:endParaRPr lang="en-US" sz="1100" dirty="0"/>
          </a:p>
        </p:txBody>
      </p:sp>
      <p:sp>
        <p:nvSpPr>
          <p:cNvPr id="20" name="Card2"/>
          <p:cNvSpPr/>
          <p:nvPr/>
        </p:nvSpPr>
        <p:spPr>
          <a:xfrm>
            <a:off x="8051800" y="2240280"/>
            <a:ext cx="3362960" cy="192024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Avatar2"/>
          <p:cNvSpPr/>
          <p:nvPr/>
        </p:nvSpPr>
        <p:spPr>
          <a:xfrm>
            <a:off x="8371840" y="25603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</a:t>
            </a:r>
            <a:endParaRPr lang="en-US" sz="1600" dirty="0"/>
          </a:p>
        </p:txBody>
      </p:sp>
      <p:sp>
        <p:nvSpPr>
          <p:cNvPr id="22" name="Name2"/>
          <p:cNvSpPr/>
          <p:nvPr/>
        </p:nvSpPr>
        <p:spPr>
          <a:xfrm>
            <a:off x="9203944" y="2560320"/>
            <a:ext cx="1890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 3</a:t>
            </a:r>
            <a:endParaRPr lang="en-US" sz="1400" dirty="0"/>
          </a:p>
        </p:txBody>
      </p:sp>
      <p:sp>
        <p:nvSpPr>
          <p:cNvPr id="23" name="Role2"/>
          <p:cNvSpPr/>
          <p:nvPr/>
        </p:nvSpPr>
        <p:spPr>
          <a:xfrm>
            <a:off x="9203944" y="2889504"/>
            <a:ext cx="189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ARCHITECT</a:t>
            </a:r>
            <a:endParaRPr lang="en-US" sz="1000" dirty="0"/>
          </a:p>
        </p:txBody>
      </p:sp>
      <p:sp>
        <p:nvSpPr>
          <p:cNvPr id="24" name="Focus2"/>
          <p:cNvSpPr/>
          <p:nvPr/>
        </p:nvSpPr>
        <p:spPr>
          <a:xfrm>
            <a:off x="8371840" y="3493008"/>
            <a:ext cx="272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GCP pipeline — ingestion, storage and Gemini Enterprise Agent.</a:t>
            </a:r>
            <a:endParaRPr lang="en-US" sz="1100" dirty="0"/>
          </a:p>
        </p:txBody>
      </p:sp>
      <p:sp>
        <p:nvSpPr>
          <p:cNvPr id="25" name="Card3"/>
          <p:cNvSpPr/>
          <p:nvPr/>
        </p:nvSpPr>
        <p:spPr>
          <a:xfrm>
            <a:off x="777240" y="4389120"/>
            <a:ext cx="3362960" cy="192024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Avatar3"/>
          <p:cNvSpPr/>
          <p:nvPr/>
        </p:nvSpPr>
        <p:spPr>
          <a:xfrm>
            <a:off x="1097280" y="4709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</a:t>
            </a:r>
            <a:endParaRPr lang="en-US" sz="1600" dirty="0"/>
          </a:p>
        </p:txBody>
      </p:sp>
      <p:sp>
        <p:nvSpPr>
          <p:cNvPr id="27" name="Name3"/>
          <p:cNvSpPr/>
          <p:nvPr/>
        </p:nvSpPr>
        <p:spPr>
          <a:xfrm>
            <a:off x="1929384" y="4709160"/>
            <a:ext cx="1890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 4</a:t>
            </a:r>
            <a:endParaRPr lang="en-US" sz="1400" dirty="0"/>
          </a:p>
        </p:txBody>
      </p:sp>
      <p:sp>
        <p:nvSpPr>
          <p:cNvPr id="28" name="Role3"/>
          <p:cNvSpPr/>
          <p:nvPr/>
        </p:nvSpPr>
        <p:spPr>
          <a:xfrm>
            <a:off x="1929384" y="5038344"/>
            <a:ext cx="189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DEVELOPER</a:t>
            </a:r>
            <a:endParaRPr lang="en-US" sz="1000" dirty="0"/>
          </a:p>
        </p:txBody>
      </p:sp>
      <p:sp>
        <p:nvSpPr>
          <p:cNvPr id="29" name="Focus3"/>
          <p:cNvSpPr/>
          <p:nvPr/>
        </p:nvSpPr>
        <p:spPr>
          <a:xfrm>
            <a:off x="1097280" y="5641848"/>
            <a:ext cx="272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dashboard, split-screen workspace and Meeting Script.</a:t>
            </a:r>
            <a:endParaRPr lang="en-US" sz="1100" dirty="0"/>
          </a:p>
        </p:txBody>
      </p:sp>
      <p:sp>
        <p:nvSpPr>
          <p:cNvPr id="30" name="Card4"/>
          <p:cNvSpPr/>
          <p:nvPr/>
        </p:nvSpPr>
        <p:spPr>
          <a:xfrm>
            <a:off x="4414520" y="4389120"/>
            <a:ext cx="3362960" cy="192024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Avatar4"/>
          <p:cNvSpPr/>
          <p:nvPr/>
        </p:nvSpPr>
        <p:spPr>
          <a:xfrm>
            <a:off x="4734560" y="4709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IJ</a:t>
            </a:r>
            <a:endParaRPr lang="en-US" sz="1600" dirty="0"/>
          </a:p>
        </p:txBody>
      </p:sp>
      <p:sp>
        <p:nvSpPr>
          <p:cNvPr id="32" name="Name4"/>
          <p:cNvSpPr/>
          <p:nvPr/>
        </p:nvSpPr>
        <p:spPr>
          <a:xfrm>
            <a:off x="5566664" y="4709160"/>
            <a:ext cx="1890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 5</a:t>
            </a:r>
            <a:endParaRPr lang="en-US" sz="1400" dirty="0"/>
          </a:p>
        </p:txBody>
      </p:sp>
      <p:sp>
        <p:nvSpPr>
          <p:cNvPr id="33" name="Role4"/>
          <p:cNvSpPr/>
          <p:nvPr/>
        </p:nvSpPr>
        <p:spPr>
          <a:xfrm>
            <a:off x="5566664" y="5038344"/>
            <a:ext cx="189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&amp; ACCESSIBILITY DESIGNER</a:t>
            </a:r>
            <a:endParaRPr lang="en-US" sz="1000" dirty="0"/>
          </a:p>
        </p:txBody>
      </p:sp>
      <p:sp>
        <p:nvSpPr>
          <p:cNvPr id="34" name="Focus4"/>
          <p:cNvSpPr/>
          <p:nvPr/>
        </p:nvSpPr>
        <p:spPr>
          <a:xfrm>
            <a:off x="4734560" y="5641848"/>
            <a:ext cx="272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plain-language, family-first, accessible experiences.</a:t>
            </a:r>
            <a:endParaRPr lang="en-US" sz="1100" dirty="0"/>
          </a:p>
        </p:txBody>
      </p:sp>
      <p:sp>
        <p:nvSpPr>
          <p:cNvPr id="35" name="Card5"/>
          <p:cNvSpPr/>
          <p:nvPr/>
        </p:nvSpPr>
        <p:spPr>
          <a:xfrm>
            <a:off x="8051800" y="4389120"/>
            <a:ext cx="3362960" cy="192024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Avatar5"/>
          <p:cNvSpPr/>
          <p:nvPr/>
        </p:nvSpPr>
        <p:spPr>
          <a:xfrm>
            <a:off x="8371840" y="4709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</a:t>
            </a:r>
            <a:endParaRPr lang="en-US" sz="1600" dirty="0"/>
          </a:p>
        </p:txBody>
      </p:sp>
      <p:sp>
        <p:nvSpPr>
          <p:cNvPr id="37" name="Name5"/>
          <p:cNvSpPr/>
          <p:nvPr/>
        </p:nvSpPr>
        <p:spPr>
          <a:xfrm>
            <a:off x="9203944" y="4709160"/>
            <a:ext cx="1890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 6</a:t>
            </a:r>
            <a:endParaRPr lang="en-US" sz="1400" dirty="0"/>
          </a:p>
        </p:txBody>
      </p:sp>
      <p:sp>
        <p:nvSpPr>
          <p:cNvPr id="38" name="Role5"/>
          <p:cNvSpPr/>
          <p:nvPr/>
        </p:nvSpPr>
        <p:spPr>
          <a:xfrm>
            <a:off x="9203944" y="5038344"/>
            <a:ext cx="189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ADVISOR</a:t>
            </a:r>
            <a:endParaRPr lang="en-US" sz="1000" dirty="0"/>
          </a:p>
        </p:txBody>
      </p:sp>
      <p:sp>
        <p:nvSpPr>
          <p:cNvPr id="39" name="Focus5"/>
          <p:cNvSpPr/>
          <p:nvPr/>
        </p:nvSpPr>
        <p:spPr>
          <a:xfrm>
            <a:off x="8371840" y="5641848"/>
            <a:ext cx="272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voice — guards FERPA-aligned, trustworthy AI outputs.</a:t>
            </a:r>
            <a:endParaRPr lang="en-US" sz="1100" dirty="0"/>
          </a:p>
        </p:txBody>
      </p:sp>
      <p:sp>
        <p:nvSpPr>
          <p:cNvPr id="90" name="Footer"/>
          <p:cNvSpPr/>
          <p:nvPr/>
        </p:nvSpPr>
        <p:spPr>
          <a:xfrm>
            <a:off x="548640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ARCHITECTURE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Capabilities, One Gemini-Powered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Cloud and Gemini Enterprise Agent, the app guides new and existing patient parents through their child’s IEP journey — from ingesting records to surfacing the next best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755648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fold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54203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13232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ingestion into Cloud Storage and BigQuery for a single source of truth.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3232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3232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+ INDEX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0068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830068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94660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037076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icons/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668" y="2542032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94660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Enterprise Agent Platform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2994660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models on Gemini Enterprise Agent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Platofrm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 grounded, context-aware care guidance.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994660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994660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LAYER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111496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111496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276088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Shape 22"/>
          <p:cNvSpPr/>
          <p:nvPr/>
        </p:nvSpPr>
        <p:spPr>
          <a:xfrm>
            <a:off x="6318504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icons/handshak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542032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76088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Comparator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5276088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compares the current IEP plan against prior versions and surfaces improvement areas.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276088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276088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AGENT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7392924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7392924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557516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35" name="Shape 30"/>
          <p:cNvSpPr/>
          <p:nvPr/>
        </p:nvSpPr>
        <p:spPr>
          <a:xfrm>
            <a:off x="8599932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icons/sca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524" y="2542032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557516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</a:t>
            </a:r>
            <a:endParaRPr lang="en-US" sz="1550" dirty="0"/>
          </a:p>
        </p:txBody>
      </p:sp>
      <p:sp>
        <p:nvSpPr>
          <p:cNvPr id="38" name="Text 32"/>
          <p:cNvSpPr/>
          <p:nvPr/>
        </p:nvSpPr>
        <p:spPr>
          <a:xfrm>
            <a:off x="7557516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next best follow-up tasks for parents, clinicians and educators.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557516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557516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AGENT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9674352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9674352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9838944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44" name="Shape 38"/>
          <p:cNvSpPr/>
          <p:nvPr/>
        </p:nvSpPr>
        <p:spPr>
          <a:xfrm>
            <a:off x="10881360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4" descr="icons/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5952" y="2542032"/>
            <a:ext cx="329184" cy="3291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838944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550" dirty="0"/>
          </a:p>
        </p:txBody>
      </p:sp>
      <p:sp>
        <p:nvSpPr>
          <p:cNvPr id="47" name="Text 40"/>
          <p:cNvSpPr/>
          <p:nvPr/>
        </p:nvSpPr>
        <p:spPr>
          <a:xfrm>
            <a:off x="9838944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foul, non-compliant or unsafe language before it ever reaches the user.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9838944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9838944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LAYER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1430000" y="63276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54864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Detail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77240" y="585216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777240" y="841248"/>
            <a:ext cx="1063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Capabilities, </a:t>
            </a:r>
            <a:r>
              <a:rPr lang="en-US" sz="3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to End</a:t>
            </a:r>
            <a:endParaRPr lang="en-US" sz="3600" dirty="0"/>
          </a:p>
        </p:txBody>
      </p:sp>
      <p:sp>
        <p:nvSpPr>
          <p:cNvPr id="5" name="Intro"/>
          <p:cNvSpPr/>
          <p:nvPr/>
        </p:nvSpPr>
        <p:spPr>
          <a:xfrm>
            <a:off x="777240" y="1545336"/>
            <a:ext cx="1063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Cloud and Gemini Enterprise Agent — from ingesting raw records to surfacing the next best action for families.</a:t>
            </a:r>
            <a:endParaRPr lang="en-US" sz="1400" dirty="0"/>
          </a:p>
        </p:txBody>
      </p:sp>
      <p:sp>
        <p:nvSpPr>
          <p:cNvPr id="10" name="ACard0"/>
          <p:cNvSpPr/>
          <p:nvPr/>
        </p:nvSpPr>
        <p:spPr>
          <a:xfrm>
            <a:off x="777240" y="2240280"/>
            <a:ext cx="3362960" cy="205740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IconBg0"/>
          <p:cNvSpPr/>
          <p:nvPr/>
        </p:nvSpPr>
        <p:spPr>
          <a:xfrm>
            <a:off x="1097280" y="25603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AIcon0" descr="capability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697480"/>
            <a:ext cx="320040" cy="320040"/>
          </a:xfrm>
          <a:prstGeom prst="rect">
            <a:avLst/>
          </a:prstGeom>
        </p:spPr>
      </p:pic>
      <p:sp>
        <p:nvSpPr>
          <p:cNvPr id="13" name="ANum0"/>
          <p:cNvSpPr/>
          <p:nvPr/>
        </p:nvSpPr>
        <p:spPr>
          <a:xfrm>
            <a:off x="336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AHead0"/>
          <p:cNvSpPr/>
          <p:nvPr/>
        </p:nvSpPr>
        <p:spPr>
          <a:xfrm>
            <a:off x="1097280" y="3246120"/>
            <a:ext cx="272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15" name="ABody0"/>
          <p:cNvSpPr/>
          <p:nvPr/>
        </p:nvSpPr>
        <p:spPr>
          <a:xfrm>
            <a:off x="1097280" y="3575304"/>
            <a:ext cx="272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ingestion into Cloud Storage and BigQuery — a single, governed source of truth for every record.</a:t>
            </a:r>
            <a:endParaRPr lang="en-US" sz="1050" dirty="0"/>
          </a:p>
        </p:txBody>
      </p:sp>
      <p:sp>
        <p:nvSpPr>
          <p:cNvPr id="16" name="ACard1"/>
          <p:cNvSpPr/>
          <p:nvPr/>
        </p:nvSpPr>
        <p:spPr>
          <a:xfrm>
            <a:off x="4414520" y="2240280"/>
            <a:ext cx="3362960" cy="205740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IconBg1"/>
          <p:cNvSpPr/>
          <p:nvPr/>
        </p:nvSpPr>
        <p:spPr>
          <a:xfrm>
            <a:off x="4734560" y="25603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AIcon1" descr="capabilit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720" y="2697480"/>
            <a:ext cx="320040" cy="320040"/>
          </a:xfrm>
          <a:prstGeom prst="rect">
            <a:avLst/>
          </a:prstGeom>
        </p:spPr>
      </p:pic>
      <p:sp>
        <p:nvSpPr>
          <p:cNvPr id="19" name="ANum1"/>
          <p:cNvSpPr/>
          <p:nvPr/>
        </p:nvSpPr>
        <p:spPr>
          <a:xfrm>
            <a:off x="7000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AHead1"/>
          <p:cNvSpPr/>
          <p:nvPr/>
        </p:nvSpPr>
        <p:spPr>
          <a:xfrm>
            <a:off x="4734560" y="3246120"/>
            <a:ext cx="272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Indexed IEP Library</a:t>
            </a:r>
            <a:endParaRPr lang="en-US" sz="1400" dirty="0"/>
          </a:p>
        </p:txBody>
      </p:sp>
      <p:sp>
        <p:nvSpPr>
          <p:cNvPr id="21" name="ABody1"/>
          <p:cNvSpPr/>
          <p:nvPr/>
        </p:nvSpPr>
        <p:spPr>
          <a:xfrm>
            <a:off x="4734560" y="3575304"/>
            <a:ext cx="272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IEP templates embedded in Gemini Enterprise Agent Search for grounded, citation-backed retrieval.</a:t>
            </a:r>
            <a:endParaRPr lang="en-US" sz="1050" dirty="0"/>
          </a:p>
        </p:txBody>
      </p:sp>
      <p:sp>
        <p:nvSpPr>
          <p:cNvPr id="22" name="ACard2"/>
          <p:cNvSpPr/>
          <p:nvPr/>
        </p:nvSpPr>
        <p:spPr>
          <a:xfrm>
            <a:off x="8051800" y="2240280"/>
            <a:ext cx="3362960" cy="205740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IconBg2"/>
          <p:cNvSpPr/>
          <p:nvPr/>
        </p:nvSpPr>
        <p:spPr>
          <a:xfrm>
            <a:off x="8371840" y="25603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AIcon2" descr="capabilit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0" y="2697480"/>
            <a:ext cx="320040" cy="320040"/>
          </a:xfrm>
          <a:prstGeom prst="rect">
            <a:avLst/>
          </a:prstGeom>
        </p:spPr>
      </p:pic>
      <p:sp>
        <p:nvSpPr>
          <p:cNvPr id="25" name="ANum2"/>
          <p:cNvSpPr/>
          <p:nvPr/>
        </p:nvSpPr>
        <p:spPr>
          <a:xfrm>
            <a:off x="10637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AHead2"/>
          <p:cNvSpPr/>
          <p:nvPr/>
        </p:nvSpPr>
        <p:spPr>
          <a:xfrm>
            <a:off x="8371840" y="3246120"/>
            <a:ext cx="272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Enterprise Agent Platform</a:t>
            </a:r>
            <a:endParaRPr lang="en-US" sz="1400" dirty="0"/>
          </a:p>
        </p:txBody>
      </p:sp>
      <p:sp>
        <p:nvSpPr>
          <p:cNvPr id="27" name="ABody2"/>
          <p:cNvSpPr/>
          <p:nvPr/>
        </p:nvSpPr>
        <p:spPr>
          <a:xfrm>
            <a:off x="8371840" y="3575304"/>
            <a:ext cx="272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on Gemini Enterprise Agent reasons over the corpus — summarizing, comparing and recommending with governance.</a:t>
            </a:r>
            <a:endParaRPr lang="en-US" sz="1050" dirty="0"/>
          </a:p>
        </p:txBody>
      </p:sp>
      <p:sp>
        <p:nvSpPr>
          <p:cNvPr id="28" name="ACard3"/>
          <p:cNvSpPr/>
          <p:nvPr/>
        </p:nvSpPr>
        <p:spPr>
          <a:xfrm>
            <a:off x="777240" y="4434840"/>
            <a:ext cx="3362960" cy="205740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AIconBg3"/>
          <p:cNvSpPr/>
          <p:nvPr/>
        </p:nvSpPr>
        <p:spPr>
          <a:xfrm>
            <a:off x="1097280" y="475488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AIcon3" descr="capa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892040"/>
            <a:ext cx="320040" cy="320040"/>
          </a:xfrm>
          <a:prstGeom prst="rect">
            <a:avLst/>
          </a:prstGeom>
        </p:spPr>
      </p:pic>
      <p:sp>
        <p:nvSpPr>
          <p:cNvPr id="31" name="ANum3"/>
          <p:cNvSpPr/>
          <p:nvPr/>
        </p:nvSpPr>
        <p:spPr>
          <a:xfrm>
            <a:off x="3362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AHead3"/>
          <p:cNvSpPr/>
          <p:nvPr/>
        </p:nvSpPr>
        <p:spPr>
          <a:xfrm>
            <a:off x="1097280" y="5440680"/>
            <a:ext cx="272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Comparator</a:t>
            </a:r>
            <a:endParaRPr lang="en-US" sz="1400" dirty="0"/>
          </a:p>
        </p:txBody>
      </p:sp>
      <p:sp>
        <p:nvSpPr>
          <p:cNvPr id="33" name="ABody3"/>
          <p:cNvSpPr/>
          <p:nvPr/>
        </p:nvSpPr>
        <p:spPr>
          <a:xfrm>
            <a:off x="1097280" y="5769864"/>
            <a:ext cx="272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 the current plan against prior IEPs and surfaces regressions, recycled goals and red flags.</a:t>
            </a:r>
            <a:endParaRPr lang="en-US" sz="1050" dirty="0"/>
          </a:p>
        </p:txBody>
      </p:sp>
      <p:sp>
        <p:nvSpPr>
          <p:cNvPr id="34" name="ACard4"/>
          <p:cNvSpPr/>
          <p:nvPr/>
        </p:nvSpPr>
        <p:spPr>
          <a:xfrm>
            <a:off x="4414520" y="4434840"/>
            <a:ext cx="3362960" cy="205740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AIconBg4"/>
          <p:cNvSpPr/>
          <p:nvPr/>
        </p:nvSpPr>
        <p:spPr>
          <a:xfrm>
            <a:off x="4734560" y="475488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AIcon4" descr="capabilit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720" y="4892040"/>
            <a:ext cx="320040" cy="320040"/>
          </a:xfrm>
          <a:prstGeom prst="rect">
            <a:avLst/>
          </a:prstGeom>
        </p:spPr>
      </p:pic>
      <p:sp>
        <p:nvSpPr>
          <p:cNvPr id="37" name="ANum4"/>
          <p:cNvSpPr/>
          <p:nvPr/>
        </p:nvSpPr>
        <p:spPr>
          <a:xfrm>
            <a:off x="7000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AHead4"/>
          <p:cNvSpPr/>
          <p:nvPr/>
        </p:nvSpPr>
        <p:spPr>
          <a:xfrm>
            <a:off x="4734560" y="5440680"/>
            <a:ext cx="272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 Coach</a:t>
            </a:r>
            <a:endParaRPr lang="en-US" sz="1400" dirty="0"/>
          </a:p>
        </p:txBody>
      </p:sp>
      <p:sp>
        <p:nvSpPr>
          <p:cNvPr id="39" name="ABody4"/>
          <p:cNvSpPr/>
          <p:nvPr/>
        </p:nvSpPr>
        <p:spPr>
          <a:xfrm>
            <a:off x="4734560" y="5769864"/>
            <a:ext cx="272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findings into a prioritized, personalized list of next steps for parents and care teams.</a:t>
            </a:r>
            <a:endParaRPr lang="en-US" sz="1050" dirty="0"/>
          </a:p>
        </p:txBody>
      </p:sp>
      <p:sp>
        <p:nvSpPr>
          <p:cNvPr id="40" name="ACard5"/>
          <p:cNvSpPr/>
          <p:nvPr/>
        </p:nvSpPr>
        <p:spPr>
          <a:xfrm>
            <a:off x="8051800" y="4434840"/>
            <a:ext cx="3362960" cy="2057400"/>
          </a:xfrm>
          <a:prstGeom prst="roundRect">
            <a:avLst>
              <a:gd name="adj" fmla="val 7000"/>
            </a:avLst>
          </a:prstGeom>
          <a:solidFill>
            <a:srgbClr val="12283D"/>
          </a:solidFill>
          <a:ln w="12700">
            <a:solidFill>
              <a:srgbClr val="1E3A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AIconBg5"/>
          <p:cNvSpPr/>
          <p:nvPr/>
        </p:nvSpPr>
        <p:spPr>
          <a:xfrm>
            <a:off x="8371840" y="475488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AIcon5" descr="capabilit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0" y="4892040"/>
            <a:ext cx="320040" cy="320040"/>
          </a:xfrm>
          <a:prstGeom prst="rect">
            <a:avLst/>
          </a:prstGeom>
        </p:spPr>
      </p:pic>
      <p:sp>
        <p:nvSpPr>
          <p:cNvPr id="43" name="ANum5"/>
          <p:cNvSpPr/>
          <p:nvPr/>
        </p:nvSpPr>
        <p:spPr>
          <a:xfrm>
            <a:off x="10637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44" name="AHead5"/>
          <p:cNvSpPr/>
          <p:nvPr/>
        </p:nvSpPr>
        <p:spPr>
          <a:xfrm>
            <a:off x="8371840" y="5440680"/>
            <a:ext cx="272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Guardrails</a:t>
            </a:r>
            <a:endParaRPr lang="en-US" sz="1400" dirty="0"/>
          </a:p>
        </p:txBody>
      </p:sp>
      <p:sp>
        <p:nvSpPr>
          <p:cNvPr id="45" name="ABody5"/>
          <p:cNvSpPr/>
          <p:nvPr/>
        </p:nvSpPr>
        <p:spPr>
          <a:xfrm>
            <a:off x="8371840" y="5769864"/>
            <a:ext cx="272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Agent filters, blocklists and policy-aware prompting screen every input and output for compliance.</a:t>
            </a:r>
            <a:endParaRPr lang="en-US" sz="1050" dirty="0"/>
          </a:p>
        </p:txBody>
      </p:sp>
      <p:sp>
        <p:nvSpPr>
          <p:cNvPr id="90" name="Footer"/>
          <p:cNvSpPr/>
          <p:nvPr/>
        </p:nvSpPr>
        <p:spPr>
          <a:xfrm>
            <a:off x="548640" y="65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206240" cy="4206240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/>
          <p:nvPr/>
        </p:nvSpPr>
        <p:spPr>
          <a:xfrm>
            <a:off x="777240" y="713232"/>
            <a:ext cx="8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5" name="Title"/>
          <p:cNvSpPr/>
          <p:nvPr/>
        </p:nvSpPr>
        <p:spPr>
          <a:xfrm>
            <a:off x="777240" y="1005840"/>
            <a:ext cx="1063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AI Agent &amp; UI — </a:t>
            </a:r>
            <a:r>
              <a:rPr lang="en-US" sz="3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6" name="DemoCard"/>
          <p:cNvSpPr/>
          <p:nvPr/>
        </p:nvSpPr>
        <p:spPr>
          <a:xfrm>
            <a:off x="777240" y="2057400"/>
            <a:ext cx="6675120" cy="3886200"/>
          </a:xfrm>
          <a:prstGeom prst="roundRect">
            <a:avLst>
              <a:gd name="adj" fmla="val 4000"/>
            </a:avLst>
          </a:prstGeom>
          <a:solidFill>
            <a:srgbClr val="12283D"/>
          </a:solidFill>
          <a:ln w="190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PlayCircle"/>
          <p:cNvSpPr/>
          <p:nvPr/>
        </p:nvSpPr>
        <p:spPr>
          <a:xfrm>
            <a:off x="3743008" y="2697480"/>
            <a:ext cx="1143000" cy="114300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2DD4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PlayTri"/>
          <p:cNvSpPr/>
          <p:nvPr/>
        </p:nvSpPr>
        <p:spPr>
          <a:xfrm rot="5400000">
            <a:off x="4187952" y="3086100"/>
            <a:ext cx="365760" cy="3657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DemoHead"/>
          <p:cNvSpPr/>
          <p:nvPr/>
        </p:nvSpPr>
        <p:spPr>
          <a:xfrm>
            <a:off x="1051560" y="40233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Application Walkthrough</a:t>
            </a:r>
            <a:endParaRPr lang="en-US" sz="2000" dirty="0"/>
          </a:p>
        </p:txBody>
      </p:sp>
      <p:sp>
        <p:nvSpPr>
          <p:cNvPr id="10" name="DemoSub"/>
          <p:cNvSpPr/>
          <p:nvPr/>
        </p:nvSpPr>
        <p:spPr>
          <a:xfrm>
            <a:off x="1234440" y="4526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app to demo the IEP AI Agent and dashboard in real time.</a:t>
            </a:r>
            <a:endParaRPr lang="en-US" sz="1300" dirty="0"/>
          </a:p>
        </p:txBody>
      </p:sp>
      <p:sp>
        <p:nvSpPr>
          <p:cNvPr id="11" name="UrlChip"/>
          <p:cNvSpPr/>
          <p:nvPr/>
        </p:nvSpPr>
        <p:spPr>
          <a:xfrm>
            <a:off x="2331720" y="525780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0B1B2B"/>
          </a:solidFill>
          <a:ln w="12700">
            <a:solidFill>
              <a:srgbClr val="3D5468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8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demo link — add your URL here ]</a:t>
            </a:r>
            <a:endParaRPr lang="en-US" sz="1100" dirty="0"/>
          </a:p>
        </p:txBody>
      </p:sp>
      <p:sp>
        <p:nvSpPr>
          <p:cNvPr id="20" name="RightHead"/>
          <p:cNvSpPr/>
          <p:nvPr/>
        </p:nvSpPr>
        <p:spPr>
          <a:xfrm>
            <a:off x="7726680" y="205740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SHOW</a:t>
            </a:r>
            <a:endParaRPr lang="en-US" sz="1300" dirty="0"/>
          </a:p>
        </p:txBody>
      </p:sp>
      <p:sp>
        <p:nvSpPr>
          <p:cNvPr id="30" name="StepBadge0"/>
          <p:cNvSpPr/>
          <p:nvPr/>
        </p:nvSpPr>
        <p:spPr>
          <a:xfrm>
            <a:off x="7726680" y="2569464"/>
            <a:ext cx="457200" cy="457200"/>
          </a:xfrm>
          <a:prstGeom prst="ellipse">
            <a:avLst/>
          </a:prstGeom>
          <a:solidFill>
            <a:srgbClr val="12283D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tepHead0"/>
          <p:cNvSpPr/>
          <p:nvPr/>
        </p:nvSpPr>
        <p:spPr>
          <a:xfrm>
            <a:off x="8366760" y="255117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a document history</a:t>
            </a:r>
            <a:endParaRPr lang="en-US" sz="1300" dirty="0"/>
          </a:p>
        </p:txBody>
      </p:sp>
      <p:sp>
        <p:nvSpPr>
          <p:cNvPr id="32" name="StepBody0"/>
          <p:cNvSpPr/>
          <p:nvPr/>
        </p:nvSpPr>
        <p:spPr>
          <a:xfrm>
            <a:off x="8366760" y="2825496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evaluations, prior IEPs and session notes.</a:t>
            </a:r>
            <a:endParaRPr lang="en-US" sz="1050" dirty="0"/>
          </a:p>
        </p:txBody>
      </p:sp>
      <p:sp>
        <p:nvSpPr>
          <p:cNvPr id="33" name="StepBadge1"/>
          <p:cNvSpPr/>
          <p:nvPr/>
        </p:nvSpPr>
        <p:spPr>
          <a:xfrm>
            <a:off x="7726680" y="3438144"/>
            <a:ext cx="457200" cy="457200"/>
          </a:xfrm>
          <a:prstGeom prst="ellipse">
            <a:avLst/>
          </a:prstGeom>
          <a:solidFill>
            <a:srgbClr val="12283D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tepHead1"/>
          <p:cNvSpPr/>
          <p:nvPr/>
        </p:nvSpPr>
        <p:spPr>
          <a:xfrm>
            <a:off x="8366760" y="341985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Strengths-first profile</a:t>
            </a:r>
            <a:endParaRPr lang="en-US" sz="1300" dirty="0"/>
          </a:p>
        </p:txBody>
      </p:sp>
      <p:sp>
        <p:nvSpPr>
          <p:cNvPr id="35" name="StepBody1"/>
          <p:cNvSpPr/>
          <p:nvPr/>
        </p:nvSpPr>
        <p:spPr>
          <a:xfrm>
            <a:off x="8366760" y="3694176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generate a chronological, asset-based profile.</a:t>
            </a:r>
            <a:endParaRPr lang="en-US" sz="1050" dirty="0"/>
          </a:p>
        </p:txBody>
      </p:sp>
      <p:sp>
        <p:nvSpPr>
          <p:cNvPr id="36" name="StepBadge2"/>
          <p:cNvSpPr/>
          <p:nvPr/>
        </p:nvSpPr>
        <p:spPr>
          <a:xfrm>
            <a:off x="7726680" y="4306824"/>
            <a:ext cx="457200" cy="457200"/>
          </a:xfrm>
          <a:prstGeom prst="ellipse">
            <a:avLst/>
          </a:prstGeom>
          <a:solidFill>
            <a:srgbClr val="12283D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StepHead2"/>
          <p:cNvSpPr/>
          <p:nvPr/>
        </p:nvSpPr>
        <p:spPr>
          <a:xfrm>
            <a:off x="8366760" y="428853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IEP AI Agent</a:t>
            </a:r>
            <a:endParaRPr lang="en-US" sz="1300" dirty="0"/>
          </a:p>
        </p:txBody>
      </p:sp>
      <p:sp>
        <p:nvSpPr>
          <p:cNvPr id="38" name="StepBody2"/>
          <p:cNvSpPr/>
          <p:nvPr/>
        </p:nvSpPr>
        <p:spPr>
          <a:xfrm>
            <a:off x="8366760" y="4562856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goals, services and red flags — every answer cited.</a:t>
            </a:r>
            <a:endParaRPr lang="en-US" sz="1050" dirty="0"/>
          </a:p>
        </p:txBody>
      </p:sp>
      <p:sp>
        <p:nvSpPr>
          <p:cNvPr id="39" name="StepBadge3"/>
          <p:cNvSpPr/>
          <p:nvPr/>
        </p:nvSpPr>
        <p:spPr>
          <a:xfrm>
            <a:off x="7726680" y="5175504"/>
            <a:ext cx="457200" cy="457200"/>
          </a:xfrm>
          <a:prstGeom prst="ellipse">
            <a:avLst/>
          </a:prstGeom>
          <a:solidFill>
            <a:srgbClr val="12283D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StepHead3"/>
          <p:cNvSpPr/>
          <p:nvPr/>
        </p:nvSpPr>
        <p:spPr>
          <a:xfrm>
            <a:off x="8366760" y="515721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Comparison Script output</a:t>
            </a:r>
            <a:endParaRPr lang="en-US" sz="1300" dirty="0"/>
          </a:p>
        </p:txBody>
      </p:sp>
      <p:sp>
        <p:nvSpPr>
          <p:cNvPr id="41" name="StepBody3"/>
          <p:cNvSpPr/>
          <p:nvPr/>
        </p:nvSpPr>
        <p:spPr>
          <a:xfrm>
            <a:off x="8366760" y="5431536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consolidated, citation-backed negotiation points.</a:t>
            </a:r>
            <a:endParaRPr lang="en-US" sz="1050" dirty="0"/>
          </a:p>
        </p:txBody>
      </p:sp>
      <p:sp>
        <p:nvSpPr>
          <p:cNvPr id="70" name="Footer"/>
          <p:cNvSpPr/>
          <p:nvPr/>
        </p:nvSpPr>
        <p:spPr>
          <a:xfrm>
            <a:off x="548640" y="65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2194560"/>
            <a:ext cx="4937760" cy="4937760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87552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Gemini app that turns </a:t>
            </a:r>
            <a:r>
              <a:rPr lang="en-US" sz="3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 complexity into clarity</a:t>
            </a: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456432" cy="2148840"/>
          </a:xfrm>
          <a:prstGeom prst="rect">
            <a:avLst/>
          </a:prstGeom>
          <a:solidFill>
            <a:srgbClr val="122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345643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07238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352958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69848" y="3968496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Storage, BigQuery and indexed IEP templates give every Gemini response a verifiable foundation.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788920"/>
            <a:ext cx="3456432" cy="2148840"/>
          </a:xfrm>
          <a:prstGeom prst="rect">
            <a:avLst/>
          </a:prstGeom>
          <a:solidFill>
            <a:srgbClr val="122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80560" y="2788920"/>
            <a:ext cx="345643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07238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73168" y="352958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73168" y="3968496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follow-up agents translate insight into prioritized next steps for every parent.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3880" y="2788920"/>
            <a:ext cx="3456432" cy="2148840"/>
          </a:xfrm>
          <a:prstGeom prst="rect">
            <a:avLst/>
          </a:prstGeom>
          <a:solidFill>
            <a:srgbClr val="122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183880" y="2788920"/>
            <a:ext cx="345643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307238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6488" y="352958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476488" y="3968496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guardrails block foul, non-compliant or unsafe content before it ever reaches the user.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77240" y="5440680"/>
            <a:ext cx="10607040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005840" y="54406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capabilities, one Gemini Enterprise app — built so every patient parent gets the right answer, at the right moment, safely.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EC6FA-08BE-4A0A-D72F-CC7DB120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18BA9D-6DD0-5DD8-9677-3C52D0BD6E7A}"/>
              </a:ext>
            </a:extLst>
          </p:cNvPr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A86A47C-634A-B82B-6CBD-31347BA97CD7}"/>
              </a:ext>
            </a:extLst>
          </p:cNvPr>
          <p:cNvSpPr/>
          <p:nvPr/>
        </p:nvSpPr>
        <p:spPr>
          <a:xfrm>
            <a:off x="777240" y="585216"/>
            <a:ext cx="6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GO NEXT</a:t>
            </a:r>
            <a:endParaRPr lang="en-US" sz="1100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67DECB0-D9B1-C336-1D0D-46F2CD834E82}"/>
              </a:ext>
            </a:extLst>
          </p:cNvPr>
          <p:cNvSpPr/>
          <p:nvPr/>
        </p:nvSpPr>
        <p:spPr>
          <a:xfrm>
            <a:off x="777240" y="841248"/>
            <a:ext cx="8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Roadmap — Beyond the </a:t>
            </a:r>
            <a:r>
              <a:rPr lang="en-US" sz="3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3200" dirty="0"/>
          </a:p>
        </p:txBody>
      </p:sp>
      <p:sp>
        <p:nvSpPr>
          <p:cNvPr id="5" name="Intro">
            <a:extLst>
              <a:ext uri="{FF2B5EF4-FFF2-40B4-BE49-F238E27FC236}">
                <a16:creationId xmlns:a16="http://schemas.microsoft.com/office/drawing/2014/main" id="{E4ED1DB1-3C67-9FF0-644C-F714636499CB}"/>
              </a:ext>
            </a:extLst>
          </p:cNvPr>
          <p:cNvSpPr/>
          <p:nvPr/>
        </p:nvSpPr>
        <p:spPr>
          <a:xfrm>
            <a:off x="777240" y="1380000"/>
            <a:ext cx="1063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AI-powered IEP insights to a collaborative, community-driven ecosystem that empowers families, educators, and neurodivergent individuals.</a:t>
            </a:r>
            <a:endParaRPr lang="en-US" sz="1300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64E266CF-3581-D7D6-2B14-E72229FB405F}"/>
              </a:ext>
            </a:extLst>
          </p:cNvPr>
          <p:cNvSpPr/>
          <p:nvPr/>
        </p:nvSpPr>
        <p:spPr>
          <a:xfrm>
            <a:off x="548640" y="65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CARE COMPANION</a:t>
            </a:r>
            <a:endParaRPr lang="en-US" sz="9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B22A58DE-09C9-AFE8-4C10-05B09D3AA9D0}"/>
              </a:ext>
            </a:extLst>
          </p:cNvPr>
          <p:cNvSpPr/>
          <p:nvPr/>
        </p:nvSpPr>
        <p:spPr>
          <a:xfrm>
            <a:off x="548640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2FB9BDF-2856-CE15-FED3-474FD04D97C5}"/>
              </a:ext>
            </a:extLst>
          </p:cNvPr>
          <p:cNvSpPr/>
          <p:nvPr/>
        </p:nvSpPr>
        <p:spPr>
          <a:xfrm>
            <a:off x="548640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AD333EE-7017-9FE3-479D-097DE38C93FC}"/>
              </a:ext>
            </a:extLst>
          </p:cNvPr>
          <p:cNvSpPr/>
          <p:nvPr/>
        </p:nvSpPr>
        <p:spPr>
          <a:xfrm>
            <a:off x="713232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056CFC4-053B-0DFA-4C85-D8EC4D96156C}"/>
              </a:ext>
            </a:extLst>
          </p:cNvPr>
          <p:cNvSpPr/>
          <p:nvPr/>
        </p:nvSpPr>
        <p:spPr>
          <a:xfrm>
            <a:off x="1755648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icons/folder_w.png">
            <a:extLst>
              <a:ext uri="{FF2B5EF4-FFF2-40B4-BE49-F238E27FC236}">
                <a16:creationId xmlns:a16="http://schemas.microsoft.com/office/drawing/2014/main" id="{5E05BD0C-1AE8-E5D1-ECF4-5424DADE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42032"/>
            <a:ext cx="329184" cy="329184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838A8027-C6FB-CB95-0A82-C3454BC9EABB}"/>
              </a:ext>
            </a:extLst>
          </p:cNvPr>
          <p:cNvSpPr/>
          <p:nvPr/>
        </p:nvSpPr>
        <p:spPr>
          <a:xfrm>
            <a:off x="713232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Vault</a:t>
            </a:r>
            <a:endParaRPr lang="en-US" sz="155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95D3E011-DED2-2DE7-26E9-046FCA9B5781}"/>
              </a:ext>
            </a:extLst>
          </p:cNvPr>
          <p:cNvSpPr/>
          <p:nvPr/>
        </p:nvSpPr>
        <p:spPr>
          <a:xfrm>
            <a:off x="713232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organize and protect every record in one encrypted hub.</a:t>
            </a:r>
            <a:endParaRPr lang="en-US" sz="115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79B701F5-8354-0A68-4C3C-7710ED0D2540}"/>
              </a:ext>
            </a:extLst>
          </p:cNvPr>
          <p:cNvSpPr/>
          <p:nvPr/>
        </p:nvSpPr>
        <p:spPr>
          <a:xfrm>
            <a:off x="713232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00EBA662-48F6-28AE-3ACC-724404ABC093}"/>
              </a:ext>
            </a:extLst>
          </p:cNvPr>
          <p:cNvSpPr/>
          <p:nvPr/>
        </p:nvSpPr>
        <p:spPr>
          <a:xfrm>
            <a:off x="713232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AGENT</a:t>
            </a:r>
            <a:endParaRPr lang="en-US" sz="9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F19C9002-8E0D-8382-CC61-A110B0025751}"/>
              </a:ext>
            </a:extLst>
          </p:cNvPr>
          <p:cNvSpPr/>
          <p:nvPr/>
        </p:nvSpPr>
        <p:spPr>
          <a:xfrm>
            <a:off x="2830068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6E26F84-35BD-8A48-EFB5-D01F0A8A0C81}"/>
              </a:ext>
            </a:extLst>
          </p:cNvPr>
          <p:cNvSpPr/>
          <p:nvPr/>
        </p:nvSpPr>
        <p:spPr>
          <a:xfrm>
            <a:off x="2830068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3FFAB45-1903-1F3F-F36C-163C3C19B3E9}"/>
              </a:ext>
            </a:extLst>
          </p:cNvPr>
          <p:cNvSpPr/>
          <p:nvPr/>
        </p:nvSpPr>
        <p:spPr>
          <a:xfrm>
            <a:off x="2994660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3EC53D9F-424C-4511-1EB3-C09512CAAE8D}"/>
              </a:ext>
            </a:extLst>
          </p:cNvPr>
          <p:cNvSpPr/>
          <p:nvPr/>
        </p:nvSpPr>
        <p:spPr>
          <a:xfrm>
            <a:off x="4037076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icons/chart_w.png">
            <a:extLst>
              <a:ext uri="{FF2B5EF4-FFF2-40B4-BE49-F238E27FC236}">
                <a16:creationId xmlns:a16="http://schemas.microsoft.com/office/drawing/2014/main" id="{8746D2F2-972B-E238-C4BF-FFA5CE544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668" y="2542032"/>
            <a:ext cx="329184" cy="329184"/>
          </a:xfrm>
          <a:prstGeom prst="rect">
            <a:avLst/>
          </a:prstGeom>
        </p:spPr>
      </p:pic>
      <p:sp>
        <p:nvSpPr>
          <p:cNvPr id="26" name="Text 15">
            <a:extLst>
              <a:ext uri="{FF2B5EF4-FFF2-40B4-BE49-F238E27FC236}">
                <a16:creationId xmlns:a16="http://schemas.microsoft.com/office/drawing/2014/main" id="{64CB3649-C780-F46F-4A0B-E79C9B1A6D6A}"/>
              </a:ext>
            </a:extLst>
          </p:cNvPr>
          <p:cNvSpPr/>
          <p:nvPr/>
        </p:nvSpPr>
        <p:spPr>
          <a:xfrm>
            <a:off x="2994660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9FDCC769-984D-3BB0-77D6-7B13DAABEA7B}"/>
              </a:ext>
            </a:extLst>
          </p:cNvPr>
          <p:cNvSpPr/>
          <p:nvPr/>
        </p:nvSpPr>
        <p:spPr>
          <a:xfrm>
            <a:off x="2994660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fragmented data into visual insights and AI recommendations.</a:t>
            </a:r>
            <a:endParaRPr lang="en-US" sz="115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AC82A066-8206-06B0-C0CF-73C74D756F40}"/>
              </a:ext>
            </a:extLst>
          </p:cNvPr>
          <p:cNvSpPr/>
          <p:nvPr/>
        </p:nvSpPr>
        <p:spPr>
          <a:xfrm>
            <a:off x="2994660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98EF555D-F48F-7BAE-7AAE-D703F58A550F}"/>
              </a:ext>
            </a:extLst>
          </p:cNvPr>
          <p:cNvSpPr/>
          <p:nvPr/>
        </p:nvSpPr>
        <p:spPr>
          <a:xfrm>
            <a:off x="2994660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AGENT</a:t>
            </a:r>
            <a:endParaRPr lang="en-US" sz="900" dirty="0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485CB89B-615F-891F-7337-57A27F02B83C}"/>
              </a:ext>
            </a:extLst>
          </p:cNvPr>
          <p:cNvSpPr/>
          <p:nvPr/>
        </p:nvSpPr>
        <p:spPr>
          <a:xfrm>
            <a:off x="5111496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33CA7FC2-FFC5-628A-17C4-7D27DB841B17}"/>
              </a:ext>
            </a:extLst>
          </p:cNvPr>
          <p:cNvSpPr/>
          <p:nvPr/>
        </p:nvSpPr>
        <p:spPr>
          <a:xfrm>
            <a:off x="5111496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7459221E-AB03-C099-DF2C-7636283726D9}"/>
              </a:ext>
            </a:extLst>
          </p:cNvPr>
          <p:cNvSpPr/>
          <p:nvPr/>
        </p:nvSpPr>
        <p:spPr>
          <a:xfrm>
            <a:off x="5276088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8ACA0902-61D1-50AD-DDC2-C6D5533C9ADA}"/>
              </a:ext>
            </a:extLst>
          </p:cNvPr>
          <p:cNvSpPr/>
          <p:nvPr/>
        </p:nvSpPr>
        <p:spPr>
          <a:xfrm>
            <a:off x="6318504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icons/handshake_w.png">
            <a:extLst>
              <a:ext uri="{FF2B5EF4-FFF2-40B4-BE49-F238E27FC236}">
                <a16:creationId xmlns:a16="http://schemas.microsoft.com/office/drawing/2014/main" id="{E2E2318B-EE93-4C70-F754-4A5D189BB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542032"/>
            <a:ext cx="329184" cy="329184"/>
          </a:xfrm>
          <a:prstGeom prst="rect">
            <a:avLst/>
          </a:prstGeom>
        </p:spPr>
      </p:pic>
      <p:sp>
        <p:nvSpPr>
          <p:cNvPr id="35" name="Text 23">
            <a:extLst>
              <a:ext uri="{FF2B5EF4-FFF2-40B4-BE49-F238E27FC236}">
                <a16:creationId xmlns:a16="http://schemas.microsoft.com/office/drawing/2014/main" id="{4246D74B-6158-4331-84EE-97BDA4171C66}"/>
              </a:ext>
            </a:extLst>
          </p:cNvPr>
          <p:cNvSpPr/>
          <p:nvPr/>
        </p:nvSpPr>
        <p:spPr>
          <a:xfrm>
            <a:off x="5276088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Advocate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Co-Pilot</a:t>
            </a:r>
            <a:endParaRPr lang="en-US" sz="15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CB4048F1-79AF-4371-F356-2617B109FBA2}"/>
              </a:ext>
            </a:extLst>
          </p:cNvPr>
          <p:cNvSpPr/>
          <p:nvPr/>
        </p:nvSpPr>
        <p:spPr>
          <a:xfrm>
            <a:off x="5276088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parents with strategy and prep before every school meeting.</a:t>
            </a:r>
            <a:endParaRPr lang="en-US" sz="1150" dirty="0"/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D351A5EC-7F9C-B839-1A59-797A72B55662}"/>
              </a:ext>
            </a:extLst>
          </p:cNvPr>
          <p:cNvSpPr/>
          <p:nvPr/>
        </p:nvSpPr>
        <p:spPr>
          <a:xfrm>
            <a:off x="5276088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39DBF4A4-1A6E-15B7-3BBC-4F8C83011CF8}"/>
              </a:ext>
            </a:extLst>
          </p:cNvPr>
          <p:cNvSpPr/>
          <p:nvPr/>
        </p:nvSpPr>
        <p:spPr>
          <a:xfrm>
            <a:off x="5276088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AGENT</a:t>
            </a:r>
            <a:endParaRPr lang="en-US" sz="900" dirty="0"/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91B44972-CCD8-7EB3-6576-7F71594434EB}"/>
              </a:ext>
            </a:extLst>
          </p:cNvPr>
          <p:cNvSpPr/>
          <p:nvPr/>
        </p:nvSpPr>
        <p:spPr>
          <a:xfrm>
            <a:off x="7392924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2C5B820C-8CE9-ED00-FC28-2B755473371E}"/>
              </a:ext>
            </a:extLst>
          </p:cNvPr>
          <p:cNvSpPr/>
          <p:nvPr/>
        </p:nvSpPr>
        <p:spPr>
          <a:xfrm>
            <a:off x="7392924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DBDB164B-4857-46B1-8080-6837B513F8FF}"/>
              </a:ext>
            </a:extLst>
          </p:cNvPr>
          <p:cNvSpPr/>
          <p:nvPr/>
        </p:nvSpPr>
        <p:spPr>
          <a:xfrm>
            <a:off x="7557516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42" name="Shape 30">
            <a:extLst>
              <a:ext uri="{FF2B5EF4-FFF2-40B4-BE49-F238E27FC236}">
                <a16:creationId xmlns:a16="http://schemas.microsoft.com/office/drawing/2014/main" id="{4CC80D02-7C9C-E020-810B-107CEC304208}"/>
              </a:ext>
            </a:extLst>
          </p:cNvPr>
          <p:cNvSpPr/>
          <p:nvPr/>
        </p:nvSpPr>
        <p:spPr>
          <a:xfrm>
            <a:off x="8599932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3" descr="icons/scale_w.png">
            <a:extLst>
              <a:ext uri="{FF2B5EF4-FFF2-40B4-BE49-F238E27FC236}">
                <a16:creationId xmlns:a16="http://schemas.microsoft.com/office/drawing/2014/main" id="{1927ABD6-77F6-F44D-EE0F-6B3E530B0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542032"/>
            <a:ext cx="329184" cy="329184"/>
          </a:xfrm>
          <a:prstGeom prst="rect">
            <a:avLst/>
          </a:prstGeom>
        </p:spPr>
      </p:pic>
      <p:sp>
        <p:nvSpPr>
          <p:cNvPr id="44" name="Text 31">
            <a:extLst>
              <a:ext uri="{FF2B5EF4-FFF2-40B4-BE49-F238E27FC236}">
                <a16:creationId xmlns:a16="http://schemas.microsoft.com/office/drawing/2014/main" id="{9DC05C7A-6215-DA2C-2416-D346E9FE13AE}"/>
              </a:ext>
            </a:extLst>
          </p:cNvPr>
          <p:cNvSpPr/>
          <p:nvPr/>
        </p:nvSpPr>
        <p:spPr>
          <a:xfrm>
            <a:off x="7557516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</a:t>
            </a:r>
            <a:endParaRPr lang="en-US" sz="1550" dirty="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D6F2476-0D19-F6FA-09CC-F5CBBD8D36F6}"/>
              </a:ext>
            </a:extLst>
          </p:cNvPr>
          <p:cNvSpPr/>
          <p:nvPr/>
        </p:nvSpPr>
        <p:spPr>
          <a:xfrm>
            <a:off x="7557516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documents against federal and state mandates automatically.</a:t>
            </a:r>
            <a:endParaRPr lang="en-US" sz="1150" dirty="0"/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E562E6B9-CAC7-29C6-1F61-0535E6A10DE4}"/>
              </a:ext>
            </a:extLst>
          </p:cNvPr>
          <p:cNvSpPr/>
          <p:nvPr/>
        </p:nvSpPr>
        <p:spPr>
          <a:xfrm>
            <a:off x="7557516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A1A1899B-BAD5-1C9D-D591-4198B4BBFBAE}"/>
              </a:ext>
            </a:extLst>
          </p:cNvPr>
          <p:cNvSpPr/>
          <p:nvPr/>
        </p:nvSpPr>
        <p:spPr>
          <a:xfrm>
            <a:off x="7557516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AGENT</a:t>
            </a:r>
            <a:endParaRPr lang="en-US" sz="900" dirty="0"/>
          </a:p>
        </p:txBody>
      </p:sp>
      <p:sp>
        <p:nvSpPr>
          <p:cNvPr id="48" name="Shape 35">
            <a:extLst>
              <a:ext uri="{FF2B5EF4-FFF2-40B4-BE49-F238E27FC236}">
                <a16:creationId xmlns:a16="http://schemas.microsoft.com/office/drawing/2014/main" id="{B031291B-E4C5-61E9-4890-3A4BE28C781A}"/>
              </a:ext>
            </a:extLst>
          </p:cNvPr>
          <p:cNvSpPr/>
          <p:nvPr/>
        </p:nvSpPr>
        <p:spPr>
          <a:xfrm>
            <a:off x="9674352" y="2121408"/>
            <a:ext cx="207568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B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6">
            <a:extLst>
              <a:ext uri="{FF2B5EF4-FFF2-40B4-BE49-F238E27FC236}">
                <a16:creationId xmlns:a16="http://schemas.microsoft.com/office/drawing/2014/main" id="{C68DC57E-EDC1-650E-F205-D87F033FB416}"/>
              </a:ext>
            </a:extLst>
          </p:cNvPr>
          <p:cNvSpPr/>
          <p:nvPr/>
        </p:nvSpPr>
        <p:spPr>
          <a:xfrm>
            <a:off x="9674352" y="2121408"/>
            <a:ext cx="2075688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74ECC4CE-CD87-AE69-7F40-F5FADB6D35D2}"/>
              </a:ext>
            </a:extLst>
          </p:cNvPr>
          <p:cNvSpPr/>
          <p:nvPr/>
        </p:nvSpPr>
        <p:spPr>
          <a:xfrm>
            <a:off x="9838944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51" name="Shape 38">
            <a:extLst>
              <a:ext uri="{FF2B5EF4-FFF2-40B4-BE49-F238E27FC236}">
                <a16:creationId xmlns:a16="http://schemas.microsoft.com/office/drawing/2014/main" id="{5BD6E824-8D66-E50A-1DE6-516251427512}"/>
              </a:ext>
            </a:extLst>
          </p:cNvPr>
          <p:cNvSpPr/>
          <p:nvPr/>
        </p:nvSpPr>
        <p:spPr>
          <a:xfrm>
            <a:off x="10881360" y="2377440"/>
            <a:ext cx="658368" cy="658368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4" descr="icons/users_w.png">
            <a:extLst>
              <a:ext uri="{FF2B5EF4-FFF2-40B4-BE49-F238E27FC236}">
                <a16:creationId xmlns:a16="http://schemas.microsoft.com/office/drawing/2014/main" id="{6651D160-5451-8ACD-A6DF-3B09D5458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952" y="2542032"/>
            <a:ext cx="329184" cy="329184"/>
          </a:xfrm>
          <a:prstGeom prst="rect">
            <a:avLst/>
          </a:prstGeom>
        </p:spPr>
      </p:pic>
      <p:sp>
        <p:nvSpPr>
          <p:cNvPr id="53" name="Text 39">
            <a:extLst>
              <a:ext uri="{FF2B5EF4-FFF2-40B4-BE49-F238E27FC236}">
                <a16:creationId xmlns:a16="http://schemas.microsoft.com/office/drawing/2014/main" id="{5E2CE05E-B266-D566-5680-36D431467F35}"/>
              </a:ext>
            </a:extLst>
          </p:cNvPr>
          <p:cNvSpPr/>
          <p:nvPr/>
        </p:nvSpPr>
        <p:spPr>
          <a:xfrm>
            <a:off x="9838944" y="320040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550" dirty="0"/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F0004751-305D-1509-75E5-FD907ACFAF12}"/>
              </a:ext>
            </a:extLst>
          </p:cNvPr>
          <p:cNvSpPr/>
          <p:nvPr/>
        </p:nvSpPr>
        <p:spPr>
          <a:xfrm>
            <a:off x="9838944" y="420624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 hyper-local advice with privacy-first anonymity.</a:t>
            </a:r>
            <a:endParaRPr lang="en-US" sz="1150" dirty="0"/>
          </a:p>
        </p:txBody>
      </p:sp>
      <p:sp>
        <p:nvSpPr>
          <p:cNvPr id="55" name="Shape 41">
            <a:extLst>
              <a:ext uri="{FF2B5EF4-FFF2-40B4-BE49-F238E27FC236}">
                <a16:creationId xmlns:a16="http://schemas.microsoft.com/office/drawing/2014/main" id="{25115119-A617-0ED3-592A-3A20423CCE39}"/>
              </a:ext>
            </a:extLst>
          </p:cNvPr>
          <p:cNvSpPr/>
          <p:nvPr/>
        </p:nvSpPr>
        <p:spPr>
          <a:xfrm>
            <a:off x="9838944" y="5184648"/>
            <a:ext cx="1746504" cy="329184"/>
          </a:xfrm>
          <a:prstGeom prst="rect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2">
            <a:extLst>
              <a:ext uri="{FF2B5EF4-FFF2-40B4-BE49-F238E27FC236}">
                <a16:creationId xmlns:a16="http://schemas.microsoft.com/office/drawing/2014/main" id="{02160CA7-BBAF-73BF-031E-068CCA86E1C8}"/>
              </a:ext>
            </a:extLst>
          </p:cNvPr>
          <p:cNvSpPr/>
          <p:nvPr/>
        </p:nvSpPr>
        <p:spPr>
          <a:xfrm>
            <a:off x="9838944" y="5184648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FEATURE</a:t>
            </a:r>
            <a:endParaRPr lang="en-US" sz="900" dirty="0"/>
          </a:p>
        </p:txBody>
      </p:sp>
      <p:sp>
        <p:nvSpPr>
          <p:cNvPr id="57" name="Text 43">
            <a:extLst>
              <a:ext uri="{FF2B5EF4-FFF2-40B4-BE49-F238E27FC236}">
                <a16:creationId xmlns:a16="http://schemas.microsoft.com/office/drawing/2014/main" id="{EE100946-DCD8-1CBA-C453-84ED8212C11C}"/>
              </a:ext>
            </a:extLst>
          </p:cNvPr>
          <p:cNvSpPr/>
          <p:nvPr/>
        </p:nvSpPr>
        <p:spPr>
          <a:xfrm>
            <a:off x="11430000" y="63276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58" name="Text 44">
            <a:extLst>
              <a:ext uri="{FF2B5EF4-FFF2-40B4-BE49-F238E27FC236}">
                <a16:creationId xmlns:a16="http://schemas.microsoft.com/office/drawing/2014/main" id="{7ACBE555-76C7-5C87-7C8B-D6F200E28FDC}"/>
              </a:ext>
            </a:extLst>
          </p:cNvPr>
          <p:cNvSpPr/>
          <p:nvPr/>
        </p:nvSpPr>
        <p:spPr>
          <a:xfrm>
            <a:off x="54864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54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NAVIGATOR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06482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977</Words>
  <Application>Microsoft Office PowerPoint</Application>
  <PresentationFormat>Widescreen</PresentationFormat>
  <Paragraphs>161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IEP Navigator — Future Feature Roadmap</dc:title>
  <dc:subject>PptxGenJS Presentation</dc:subject>
  <dc:creator>IEP Navigator Team</dc:creator>
  <cp:lastModifiedBy>Charles Zha</cp:lastModifiedBy>
  <cp:revision>6</cp:revision>
  <dcterms:created xsi:type="dcterms:W3CDTF">2026-05-21T15:17:02Z</dcterms:created>
  <dcterms:modified xsi:type="dcterms:W3CDTF">2026-05-21T18:37:19Z</dcterms:modified>
</cp:coreProperties>
</file>