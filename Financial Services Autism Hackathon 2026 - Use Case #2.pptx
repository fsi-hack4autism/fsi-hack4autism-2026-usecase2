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 SemiBold"/>
      <p:regular r:id="rId16"/>
      <p:bold r:id="rId17"/>
      <p:italic r:id="rId18"/>
      <p:boldItalic r:id="rId19"/>
    </p:embeddedFont>
    <p:embeddedFont>
      <p:font typeface="Nunito"/>
      <p:bold r:id="rId20"/>
      <p:boldItalic r:id="rId21"/>
    </p:embeddedFont>
    <p:embeddedFont>
      <p:font typeface="Quicksand"/>
      <p:bold r:id="rId22"/>
    </p:embeddedFont>
    <p:embeddedFont>
      <p:font typeface="Quicksand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Quicksand-bold.fntdata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24" Type="http://schemas.openxmlformats.org/officeDocument/2006/relationships/font" Target="fonts/QuicksandSemiBold-bold.fntdata"/><Relationship Id="rId12" Type="http://schemas.openxmlformats.org/officeDocument/2006/relationships/slide" Target="slides/slide7.xml"/><Relationship Id="rId23" Type="http://schemas.openxmlformats.org/officeDocument/2006/relationships/font" Target="fonts/Quicksand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SemiBold-bold.fntdata"/><Relationship Id="rId16" Type="http://schemas.openxmlformats.org/officeDocument/2006/relationships/font" Target="fonts/Nunito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881d788fa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a881d788fa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81d788fa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81d788fa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89bb745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89bb745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881d788fa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881d788fa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81d788fa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881d788f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881d788fa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881d788f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881d788f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881d788f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81d788f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881d788f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881d788f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881d788f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881d788fa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881d788fa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a881d788fa_13_0)">
  <p:cSld name="Generated (g3a881d788fa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Relationship Id="rId5" Type="http://schemas.openxmlformats.org/officeDocument/2006/relationships/image" Target="../media/image14.jpg"/><Relationship Id="rId6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2667000" cy="2667000"/>
            <a:chOff x="0" y="0"/>
            <a:chExt cx="2667000" cy="26670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2667000" cy="2667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cubicBezTo>
                    <a:pt x="102857" y="51429"/>
                    <a:pt x="51429" y="102857"/>
                    <a:pt x="0" y="120000"/>
                  </a:cubicBezTo>
                  <a:close/>
                </a:path>
              </a:pathLst>
            </a:custGeom>
            <a:solidFill>
              <a:srgbClr val="F4EF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1714500" cy="1714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cubicBezTo>
                    <a:pt x="100000" y="53333"/>
                    <a:pt x="53333" y="100000"/>
                    <a:pt x="0" y="120000"/>
                  </a:cubicBezTo>
                  <a:close/>
                </a:path>
              </a:pathLst>
            </a:custGeom>
            <a:solidFill>
              <a:srgbClr val="F9D477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14"/>
          <p:cNvGrpSpPr/>
          <p:nvPr/>
        </p:nvGrpSpPr>
        <p:grpSpPr>
          <a:xfrm>
            <a:off x="6477000" y="2476500"/>
            <a:ext cx="2667000" cy="2667000"/>
            <a:chOff x="6477000" y="2476500"/>
            <a:chExt cx="2667000" cy="2667000"/>
          </a:xfrm>
        </p:grpSpPr>
        <p:sp>
          <p:nvSpPr>
            <p:cNvPr id="59" name="Google Shape;59;p14"/>
            <p:cNvSpPr/>
            <p:nvPr/>
          </p:nvSpPr>
          <p:spPr>
            <a:xfrm>
              <a:off x="6477000" y="2476500"/>
              <a:ext cx="2667000" cy="26670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cubicBezTo>
                    <a:pt x="17143" y="68571"/>
                    <a:pt x="68571" y="17143"/>
                    <a:pt x="120000" y="0"/>
                  </a:cubicBezTo>
                  <a:close/>
                </a:path>
              </a:pathLst>
            </a:custGeom>
            <a:solidFill>
              <a:srgbClr val="5D9B9B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7620000" y="3429000"/>
              <a:ext cx="1524000" cy="17145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cubicBezTo>
                    <a:pt x="22500" y="66667"/>
                    <a:pt x="75000" y="20000"/>
                    <a:pt x="120000" y="0"/>
                  </a:cubicBezTo>
                  <a:close/>
                </a:path>
              </a:pathLst>
            </a:custGeom>
            <a:solidFill>
              <a:srgbClr val="F2A68D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62000" y="762000"/>
            <a:ext cx="2286000" cy="324000"/>
            <a:chOff x="0" y="0"/>
            <a:chExt cx="2286000" cy="324000"/>
          </a:xfrm>
        </p:grpSpPr>
        <p:sp>
          <p:nvSpPr>
            <p:cNvPr id="62" name="Google Shape;62;p14"/>
            <p:cNvSpPr/>
            <p:nvPr/>
          </p:nvSpPr>
          <p:spPr>
            <a:xfrm>
              <a:off x="38100" y="38100"/>
              <a:ext cx="228600" cy="228600"/>
            </a:xfrm>
            <a:prstGeom prst="ellipse">
              <a:avLst/>
            </a:prstGeom>
            <a:solidFill>
              <a:srgbClr val="F9D4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95250" y="95250"/>
              <a:ext cx="114300" cy="114300"/>
            </a:xfrm>
            <a:prstGeom prst="ellipse">
              <a:avLst/>
            </a:prstGeom>
            <a:solidFill>
              <a:srgbClr val="F2A68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fill="none" h="120000" w="120000">
                  <a:moveTo>
                    <a:pt x="60000" y="0"/>
                  </a:moveTo>
                  <a:lnTo>
                    <a:pt x="60000" y="15000"/>
                  </a:lnTo>
                  <a:moveTo>
                    <a:pt x="60000" y="10500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5000" y="60000"/>
                  </a:lnTo>
                  <a:moveTo>
                    <a:pt x="105000" y="60000"/>
                  </a:moveTo>
                  <a:lnTo>
                    <a:pt x="120000" y="60000"/>
                  </a:lnTo>
                  <a:moveTo>
                    <a:pt x="17250" y="17250"/>
                  </a:moveTo>
                  <a:lnTo>
                    <a:pt x="28125" y="28125"/>
                  </a:lnTo>
                  <a:moveTo>
                    <a:pt x="91875" y="91875"/>
                  </a:moveTo>
                  <a:lnTo>
                    <a:pt x="102750" y="102750"/>
                  </a:lnTo>
                  <a:moveTo>
                    <a:pt x="102750" y="17250"/>
                  </a:moveTo>
                  <a:lnTo>
                    <a:pt x="91875" y="28125"/>
                  </a:lnTo>
                  <a:moveTo>
                    <a:pt x="28125" y="91875"/>
                  </a:moveTo>
                  <a:lnTo>
                    <a:pt x="17250" y="10275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5D9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381000" y="381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rPr>
                <a:t>FS Autism Hackathon '26</a:t>
              </a:r>
              <a:endParaRPr b="1" sz="900">
                <a:solidFill>
                  <a:srgbClr val="5D9B9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6" name="Google Shape;66;p14"/>
          <p:cNvSpPr txBox="1"/>
          <p:nvPr/>
        </p:nvSpPr>
        <p:spPr>
          <a:xfrm>
            <a:off x="762000" y="1905000"/>
            <a:ext cx="762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4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Financial Services Autism Hackathon 2026 - Use Case #2</a:t>
            </a:r>
            <a:endParaRPr b="0" sz="1943">
              <a:solidFill>
                <a:srgbClr val="5D9B9B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53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Empowering Autism Care: AI-Assisted Program Development</a:t>
            </a:r>
            <a:endParaRPr b="1" sz="3053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rPr>
              <a:t>Personalizing care for individuals with autism through historical data insights.</a:t>
            </a:r>
            <a:endParaRPr b="0" sz="1110">
              <a:solidFill>
                <a:srgbClr val="594A3A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0" sz="971">
              <a:solidFill>
                <a:srgbClr val="2C241B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6">
              <a:solidFill>
                <a:srgbClr val="5D9B9B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5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" name="Google Shape;73;p15"/>
          <p:cNvGrpSpPr/>
          <p:nvPr/>
        </p:nvGrpSpPr>
        <p:grpSpPr>
          <a:xfrm>
            <a:off x="450100" y="268650"/>
            <a:ext cx="8382000" cy="381150"/>
            <a:chOff x="381000" y="4667250"/>
            <a:chExt cx="8382000" cy="381150"/>
          </a:xfrm>
        </p:grpSpPr>
        <p:cxnSp>
          <p:nvCxnSpPr>
            <p:cNvPr id="74" name="Google Shape;74;p15"/>
            <p:cNvCxnSpPr/>
            <p:nvPr/>
          </p:nvCxnSpPr>
          <p:spPr>
            <a:xfrm>
              <a:off x="381000" y="4667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4EFE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" name="Google Shape;75;p15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Use Case #2: AI Assisted Program Development and Summarization</a:t>
              </a:r>
              <a:endParaRPr b="0" sz="105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76" name="Google Shape;76;p15"/>
          <p:cNvSpPr txBox="1"/>
          <p:nvPr/>
        </p:nvSpPr>
        <p:spPr>
          <a:xfrm>
            <a:off x="571500" y="904875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9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Leveraging historical data creates a foundation for personalized, lifelong autism support.</a:t>
            </a:r>
            <a:endParaRPr b="1" sz="2359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571500" y="1743075"/>
            <a:ext cx="8139188" cy="2919300"/>
            <a:chOff x="0" y="-66675"/>
            <a:chExt cx="8139188" cy="2919300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0" y="0"/>
              <a:ext cx="3810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By synthesizing comprehensive individual histories—from early diagnostic evaluations to educational milestones—we build a narrative of growth and potential.</a:t>
              </a:r>
              <a:endParaRPr b="0" sz="1350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Our AI-driven approach ensures that every transition is supported by a deep understanding of unique needs and previous successes.</a:t>
              </a:r>
              <a:endParaRPr b="0" sz="1350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79" name="Google Shape;79;p15"/>
            <p:cNvGrpSpPr/>
            <p:nvPr/>
          </p:nvGrpSpPr>
          <p:grpSpPr>
            <a:xfrm>
              <a:off x="4052888" y="-66675"/>
              <a:ext cx="4086300" cy="2919300"/>
              <a:chOff x="-138112" y="-66675"/>
              <a:chExt cx="4086300" cy="2919300"/>
            </a:xfrm>
          </p:grpSpPr>
          <p:grpSp>
            <p:nvGrpSpPr>
              <p:cNvPr id="80" name="Google Shape;80;p15"/>
              <p:cNvGrpSpPr/>
              <p:nvPr/>
            </p:nvGrpSpPr>
            <p:grpSpPr>
              <a:xfrm>
                <a:off x="-138112" y="-66675"/>
                <a:ext cx="4086300" cy="809700"/>
                <a:chOff x="-138112" y="-66675"/>
                <a:chExt cx="4086300" cy="809700"/>
              </a:xfrm>
            </p:grpSpPr>
            <p:pic>
              <p:nvPicPr>
                <p:cNvPr id="81" name="Google Shape;81;p1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-138112" y="-66675"/>
                  <a:ext cx="4086300" cy="809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" name="Google Shape;82;p15"/>
                <p:cNvSpPr txBox="1"/>
                <p:nvPr/>
              </p:nvSpPr>
              <p:spPr>
                <a:xfrm>
                  <a:off x="571500" y="95250"/>
                  <a:ext cx="30480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650">
                      <a:solidFill>
                        <a:srgbClr val="2C241B"/>
                      </a:solidFill>
                      <a:latin typeface="Quicksand SemiBold"/>
                      <a:ea typeface="Quicksand SemiBold"/>
                      <a:cs typeface="Quicksand SemiBold"/>
                      <a:sym typeface="Quicksand SemiBold"/>
                    </a:rPr>
                    <a:t>Synthesizing Historical Data</a:t>
                  </a:r>
                  <a:endParaRPr b="0" sz="1650">
                    <a:solidFill>
                      <a:srgbClr val="2C241B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594A3A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Comprehensive individual histories.</a:t>
                  </a:r>
                  <a:endParaRPr b="0" sz="1050">
                    <a:solidFill>
                      <a:srgbClr val="594A3A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83" name="Google Shape;83;p15"/>
              <p:cNvGrpSpPr/>
              <p:nvPr/>
            </p:nvGrpSpPr>
            <p:grpSpPr>
              <a:xfrm>
                <a:off x="-138112" y="647700"/>
                <a:ext cx="4086300" cy="809700"/>
                <a:chOff x="-138112" y="-66675"/>
                <a:chExt cx="4086300" cy="809700"/>
              </a:xfrm>
            </p:grpSpPr>
            <p:pic>
              <p:nvPicPr>
                <p:cNvPr id="84" name="Google Shape;84;p1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-138112" y="-66675"/>
                  <a:ext cx="4086300" cy="809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5" name="Google Shape;85;p15"/>
                <p:cNvSpPr/>
                <p:nvPr/>
              </p:nvSpPr>
              <p:spPr>
                <a:xfrm>
                  <a:off x="95250" y="133350"/>
                  <a:ext cx="342900" cy="342900"/>
                </a:xfrm>
                <a:prstGeom prst="ellipse">
                  <a:avLst/>
                </a:prstGeom>
                <a:solidFill>
                  <a:srgbClr val="F4EFE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228600" y="228600"/>
                  <a:ext cx="76200" cy="152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0"/>
                      </a:lnTo>
                      <a:lnTo>
                        <a:pt x="120000" y="12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5D9B9B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" name="Google Shape;87;p15"/>
                <p:cNvSpPr txBox="1"/>
                <p:nvPr/>
              </p:nvSpPr>
              <p:spPr>
                <a:xfrm>
                  <a:off x="571500" y="95250"/>
                  <a:ext cx="30480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650">
                      <a:solidFill>
                        <a:srgbClr val="2C241B"/>
                      </a:solidFill>
                      <a:latin typeface="Quicksand SemiBold"/>
                      <a:ea typeface="Quicksand SemiBold"/>
                      <a:cs typeface="Quicksand SemiBold"/>
                      <a:sym typeface="Quicksand SemiBold"/>
                    </a:rPr>
                    <a:t>Utilizing Diagnostic Reports</a:t>
                  </a:r>
                  <a:endParaRPr b="0" sz="1650">
                    <a:solidFill>
                      <a:srgbClr val="2C241B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594A3A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Critical medical and clinical evaluations.</a:t>
                  </a:r>
                  <a:endParaRPr b="0" sz="1050">
                    <a:solidFill>
                      <a:srgbClr val="594A3A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88" name="Google Shape;88;p15"/>
              <p:cNvGrpSpPr/>
              <p:nvPr/>
            </p:nvGrpSpPr>
            <p:grpSpPr>
              <a:xfrm>
                <a:off x="-138112" y="1362075"/>
                <a:ext cx="4086300" cy="809700"/>
                <a:chOff x="-138112" y="-66675"/>
                <a:chExt cx="4086300" cy="809700"/>
              </a:xfrm>
            </p:grpSpPr>
            <p:pic>
              <p:nvPicPr>
                <p:cNvPr id="89" name="Google Shape;89;p1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-138112" y="-66675"/>
                  <a:ext cx="4086300" cy="809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0" name="Google Shape;90;p15"/>
                <p:cNvSpPr/>
                <p:nvPr/>
              </p:nvSpPr>
              <p:spPr>
                <a:xfrm>
                  <a:off x="95250" y="133350"/>
                  <a:ext cx="342900" cy="342900"/>
                </a:xfrm>
                <a:prstGeom prst="ellipse">
                  <a:avLst/>
                </a:prstGeom>
                <a:solidFill>
                  <a:srgbClr val="F4EFE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91" name="Google Shape;91;p1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95263" y="176213"/>
                  <a:ext cx="142800" cy="109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2" name="Google Shape;92;p15"/>
                <p:cNvSpPr txBox="1"/>
                <p:nvPr/>
              </p:nvSpPr>
              <p:spPr>
                <a:xfrm>
                  <a:off x="571500" y="95250"/>
                  <a:ext cx="30480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650">
                      <a:solidFill>
                        <a:srgbClr val="2C241B"/>
                      </a:solidFill>
                      <a:latin typeface="Quicksand SemiBold"/>
                      <a:ea typeface="Quicksand SemiBold"/>
                      <a:cs typeface="Quicksand SemiBold"/>
                      <a:sym typeface="Quicksand SemiBold"/>
                    </a:rPr>
                    <a:t>Integrating IEPs</a:t>
                  </a:r>
                  <a:endParaRPr b="0" sz="1650">
                    <a:solidFill>
                      <a:srgbClr val="2C241B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594A3A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Understanding educational needs and goals.</a:t>
                  </a:r>
                  <a:endParaRPr b="0" sz="1050">
                    <a:solidFill>
                      <a:srgbClr val="594A3A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93" name="Google Shape;93;p15"/>
              <p:cNvGrpSpPr/>
              <p:nvPr/>
            </p:nvGrpSpPr>
            <p:grpSpPr>
              <a:xfrm>
                <a:off x="-33337" y="2143125"/>
                <a:ext cx="3876600" cy="709500"/>
                <a:chOff x="-33337" y="0"/>
                <a:chExt cx="3876600" cy="709500"/>
              </a:xfrm>
            </p:grpSpPr>
            <p:pic>
              <p:nvPicPr>
                <p:cNvPr id="94" name="Google Shape;94;p1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-33337" y="0"/>
                  <a:ext cx="3876600" cy="709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5" name="Google Shape;95;p15"/>
                <p:cNvSpPr/>
                <p:nvPr/>
              </p:nvSpPr>
              <p:spPr>
                <a:xfrm>
                  <a:off x="0" y="0"/>
                  <a:ext cx="57300" cy="6192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A68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" name="Google Shape;96;p15"/>
                <p:cNvSpPr txBox="1"/>
                <p:nvPr/>
              </p:nvSpPr>
              <p:spPr>
                <a:xfrm>
                  <a:off x="228600" y="95250"/>
                  <a:ext cx="34290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650">
                      <a:solidFill>
                        <a:srgbClr val="594A3A"/>
                      </a:solidFill>
                      <a:latin typeface="Quicksand SemiBold"/>
                      <a:ea typeface="Quicksand SemiBold"/>
                      <a:cs typeface="Quicksand SemiBold"/>
                      <a:sym typeface="Quicksand SemiBold"/>
                    </a:rPr>
                    <a:t>Tailored Programs</a:t>
                  </a:r>
                  <a:endParaRPr b="0" sz="1650">
                    <a:solidFill>
                      <a:srgbClr val="594A3A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50">
                      <a:solidFill>
                        <a:srgbClr val="594A3A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Personalized, lifelong support foundation.</a:t>
                  </a:r>
                  <a:endParaRPr b="0" sz="1050">
                    <a:solidFill>
                      <a:srgbClr val="594A3A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0" y="0"/>
            <a:ext cx="8831100" cy="3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" sz="2700">
                <a:solidFill>
                  <a:schemeClr val="dk1"/>
                </a:solidFill>
              </a:rPr>
              <a:t>AI Assisted Program Development and Summarization</a:t>
            </a:r>
            <a:endParaRPr b="1" i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This use case centers on building a secure, personalized AI foundation by leveraging a mountain of an individual's historical data, such as diagnostic reports, psychoeducational evaluations, and IEPs 2. The goal is to use multi-model and agentic support to tailor highly unique programs that improve individual outcomes over a lifetime.</a:t>
            </a:r>
            <a:endParaRPr sz="2900"/>
          </a:p>
        </p:txBody>
      </p:sp>
      <p:sp>
        <p:nvSpPr>
          <p:cNvPr id="102" name="Google Shape;102;p16"/>
          <p:cNvSpPr txBox="1"/>
          <p:nvPr/>
        </p:nvSpPr>
        <p:spPr>
          <a:xfrm>
            <a:off x="10027250" y="2758000"/>
            <a:ext cx="91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7"/>
          <p:cNvGrpSpPr/>
          <p:nvPr/>
        </p:nvGrpSpPr>
        <p:grpSpPr>
          <a:xfrm>
            <a:off x="371475" y="276225"/>
            <a:ext cx="8391525" cy="438150"/>
            <a:chOff x="371475" y="276225"/>
            <a:chExt cx="8391525" cy="438150"/>
          </a:xfrm>
        </p:grpSpPr>
        <p:grpSp>
          <p:nvGrpSpPr>
            <p:cNvPr id="109" name="Google Shape;109;p17"/>
            <p:cNvGrpSpPr/>
            <p:nvPr/>
          </p:nvGrpSpPr>
          <p:grpSpPr>
            <a:xfrm>
              <a:off x="371475" y="276225"/>
              <a:ext cx="2295525" cy="333525"/>
              <a:chOff x="-9525" y="-9525"/>
              <a:chExt cx="2295525" cy="333525"/>
            </a:xfrm>
          </p:grpSpPr>
          <p:sp>
            <p:nvSpPr>
              <p:cNvPr id="110" name="Google Shape;110;p17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F9D47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2A68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2" name="Google Shape;112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3240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17"/>
              <p:cNvSpPr txBox="1"/>
              <p:nvPr/>
            </p:nvSpPr>
            <p:spPr>
              <a:xfrm>
                <a:off x="381000" y="3810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5D9B9B"/>
                    </a:solidFill>
                    <a:latin typeface="Nunito"/>
                    <a:ea typeface="Nunito"/>
                    <a:cs typeface="Nunito"/>
                    <a:sym typeface="Nunito"/>
                  </a:rPr>
                  <a:t>FS Autism Hackathon '26</a:t>
                </a:r>
                <a:endParaRPr b="1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cxnSp>
          <p:nvCxnSpPr>
            <p:cNvPr id="114" name="Google Shape;114;p17"/>
            <p:cNvCxnSpPr/>
            <p:nvPr/>
          </p:nvCxnSpPr>
          <p:spPr>
            <a:xfrm>
              <a:off x="381000" y="7143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4EFE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" name="Google Shape;115;p17"/>
          <p:cNvSpPr txBox="1"/>
          <p:nvPr/>
        </p:nvSpPr>
        <p:spPr>
          <a:xfrm>
            <a:off x="571500" y="857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Agentic and Multi-Model AI Collaborate to Synthesize Complex Data into Unique Care Programs</a:t>
            </a:r>
            <a:endParaRPr b="1" sz="2400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571500" y="1809750"/>
            <a:ext cx="2476500" cy="2476500"/>
            <a:chOff x="0" y="0"/>
            <a:chExt cx="2476500" cy="2476500"/>
          </a:xfrm>
        </p:grpSpPr>
        <p:sp>
          <p:nvSpPr>
            <p:cNvPr id="117" name="Google Shape;117;p17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7"/>
            <p:cNvGrpSpPr/>
            <p:nvPr/>
          </p:nvGrpSpPr>
          <p:grpSpPr>
            <a:xfrm>
              <a:off x="1009650" y="285750"/>
              <a:ext cx="457200" cy="457200"/>
              <a:chOff x="0" y="0"/>
              <a:chExt cx="457200" cy="457200"/>
            </a:xfrm>
          </p:grpSpPr>
          <p:sp>
            <p:nvSpPr>
              <p:cNvPr id="119" name="Google Shape;119;p17"/>
              <p:cNvSpPr/>
              <p:nvPr/>
            </p:nvSpPr>
            <p:spPr>
              <a:xfrm>
                <a:off x="0" y="0"/>
                <a:ext cx="457200" cy="457200"/>
              </a:xfrm>
              <a:prstGeom prst="ellipse">
                <a:avLst/>
              </a:prstGeom>
              <a:solidFill>
                <a:srgbClr val="F4EF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7"/>
              <p:cNvSpPr/>
              <p:nvPr/>
            </p:nvSpPr>
            <p:spPr>
              <a:xfrm>
                <a:off x="133350" y="95250"/>
                <a:ext cx="190500" cy="228600"/>
              </a:xfrm>
              <a:prstGeom prst="roundRect">
                <a:avLst>
                  <a:gd fmla="val 20000" name="adj"/>
                </a:avLst>
              </a:prstGeom>
              <a:solidFill>
                <a:srgbClr val="5D9B9B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7"/>
              <p:cNvSpPr/>
              <p:nvPr/>
            </p:nvSpPr>
            <p:spPr>
              <a:xfrm>
                <a:off x="95250" y="133350"/>
                <a:ext cx="190500" cy="228600"/>
              </a:xfrm>
              <a:prstGeom prst="roundRect">
                <a:avLst>
                  <a:gd fmla="val 20000" name="adj"/>
                </a:avLst>
              </a:prstGeom>
              <a:solidFill>
                <a:srgbClr val="5D9B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2" name="Google Shape;122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23825" y="200025"/>
                <a:ext cx="133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3" name="Google Shape;123;p17"/>
            <p:cNvSpPr txBox="1"/>
            <p:nvPr/>
          </p:nvSpPr>
          <p:spPr>
            <a:xfrm>
              <a:off x="190500" y="952500"/>
              <a:ext cx="2095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Multi-Model AI</a:t>
              </a:r>
              <a:endParaRPr b="0" sz="15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Processing diverse historical and current data, including text, diagnostic images, and behavioral assessments.</a:t>
              </a:r>
              <a:endParaRPr b="0" sz="105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3333750" y="1809750"/>
            <a:ext cx="2476500" cy="2476500"/>
            <a:chOff x="0" y="0"/>
            <a:chExt cx="2476500" cy="24765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17"/>
            <p:cNvGrpSpPr/>
            <p:nvPr/>
          </p:nvGrpSpPr>
          <p:grpSpPr>
            <a:xfrm>
              <a:off x="1009650" y="285750"/>
              <a:ext cx="457200" cy="457200"/>
              <a:chOff x="0" y="0"/>
              <a:chExt cx="457200" cy="457200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0" y="0"/>
                <a:ext cx="457200" cy="457200"/>
              </a:xfrm>
              <a:prstGeom prst="ellipse">
                <a:avLst/>
              </a:prstGeom>
              <a:solidFill>
                <a:srgbClr val="F4EF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104775" y="95250"/>
                <a:ext cx="247800" cy="2343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51231" y="111707"/>
                    </a:lnTo>
                    <a:cubicBezTo>
                      <a:pt x="20308" y="81951"/>
                      <a:pt x="0" y="62439"/>
                      <a:pt x="0" y="36585"/>
                    </a:cubicBezTo>
                    <a:cubicBezTo>
                      <a:pt x="0" y="16098"/>
                      <a:pt x="15231" y="0"/>
                      <a:pt x="34615" y="0"/>
                    </a:cubicBezTo>
                    <a:cubicBezTo>
                      <a:pt x="45692" y="0"/>
                      <a:pt x="55846" y="5366"/>
                      <a:pt x="60000" y="14146"/>
                    </a:cubicBezTo>
                    <a:cubicBezTo>
                      <a:pt x="64154" y="5366"/>
                      <a:pt x="74308" y="0"/>
                      <a:pt x="85385" y="0"/>
                    </a:cubicBezTo>
                    <a:cubicBezTo>
                      <a:pt x="104769" y="0"/>
                      <a:pt x="120000" y="16098"/>
                      <a:pt x="120000" y="36585"/>
                    </a:cubicBezTo>
                    <a:cubicBezTo>
                      <a:pt x="120000" y="62439"/>
                      <a:pt x="99692" y="81951"/>
                      <a:pt x="68769" y="111707"/>
                    </a:cubicBezTo>
                    <a:lnTo>
                      <a:pt x="60000" y="120000"/>
                    </a:lnTo>
                    <a:close/>
                  </a:path>
                </a:pathLst>
              </a:custGeom>
              <a:solidFill>
                <a:srgbClr val="F2A68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" name="Google Shape;129;p17"/>
            <p:cNvSpPr txBox="1"/>
            <p:nvPr/>
          </p:nvSpPr>
          <p:spPr>
            <a:xfrm>
              <a:off x="190500" y="952500"/>
              <a:ext cx="2095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Agentic Support</a:t>
              </a:r>
              <a:endParaRPr b="0" sz="1500">
                <a:solidFill>
                  <a:srgbClr val="F2A68D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Providing autonomous assistance to analyze and connect complex information across disparate datasets.</a:t>
              </a:r>
              <a:endParaRPr b="0" sz="105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6096000" y="1809750"/>
            <a:ext cx="2476500" cy="2476500"/>
            <a:chOff x="0" y="0"/>
            <a:chExt cx="2476500" cy="24765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9230" name="adj"/>
              </a:avLst>
            </a:prstGeom>
            <a:solidFill>
              <a:srgbClr val="F4EF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2" name="Google Shape;132;p17"/>
            <p:cNvGrpSpPr/>
            <p:nvPr/>
          </p:nvGrpSpPr>
          <p:grpSpPr>
            <a:xfrm>
              <a:off x="1009650" y="266700"/>
              <a:ext cx="457200" cy="476250"/>
              <a:chOff x="0" y="-19050"/>
              <a:chExt cx="457200" cy="476250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0" y="0"/>
                <a:ext cx="457200" cy="457200"/>
              </a:xfrm>
              <a:prstGeom prst="ellipse">
                <a:avLst/>
              </a:prstGeom>
              <a:solidFill>
                <a:srgbClr val="FDFB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257175" y="-19050"/>
                <a:ext cx="133500" cy="1335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77143" y="77143"/>
                    </a:lnTo>
                    <a:lnTo>
                      <a:pt x="120000" y="60000"/>
                    </a:lnTo>
                    <a:lnTo>
                      <a:pt x="77143" y="42857"/>
                    </a:lnTo>
                    <a:lnTo>
                      <a:pt x="60000" y="0"/>
                    </a:lnTo>
                    <a:lnTo>
                      <a:pt x="42857" y="42857"/>
                    </a:lnTo>
                    <a:lnTo>
                      <a:pt x="0" y="60000"/>
                    </a:lnTo>
                    <a:lnTo>
                      <a:pt x="42857" y="77143"/>
                    </a:lnTo>
                    <a:close/>
                  </a:path>
                </a:pathLst>
              </a:custGeom>
              <a:solidFill>
                <a:srgbClr val="F9D47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7"/>
            <p:cNvSpPr txBox="1"/>
            <p:nvPr/>
          </p:nvSpPr>
          <p:spPr>
            <a:xfrm>
              <a:off x="190500" y="952500"/>
              <a:ext cx="2095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Program Synthesis</a:t>
              </a:r>
              <a:endParaRPr b="0" sz="1500">
                <a:solidFill>
                  <a:srgbClr val="2C241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The engine synthesizes all processed data into completely unique, individualized care programs for every learner.</a:t>
              </a:r>
              <a:endParaRPr b="0" sz="105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0" y="3033713"/>
            <a:ext cx="285900" cy="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3033713"/>
            <a:ext cx="285900" cy="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8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8"/>
          <p:cNvSpPr txBox="1"/>
          <p:nvPr/>
        </p:nvSpPr>
        <p:spPr>
          <a:xfrm>
            <a:off x="571500" y="857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Continuous AI adaptation improves individual longitudinal outcomes over a lifetime.</a:t>
            </a:r>
            <a:endParaRPr b="1" sz="2400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44" name="Google Shape;144;p18"/>
          <p:cNvGrpSpPr/>
          <p:nvPr/>
        </p:nvGrpSpPr>
        <p:grpSpPr>
          <a:xfrm>
            <a:off x="404813" y="1604963"/>
            <a:ext cx="3762300" cy="3000300"/>
            <a:chOff x="-166687" y="-109537"/>
            <a:chExt cx="3762300" cy="3000300"/>
          </a:xfrm>
        </p:grpSpPr>
        <p:pic>
          <p:nvPicPr>
            <p:cNvPr descr="A warm, compassionate paper-cutout style illustration showing a stylized winding path representing a lifetime. Along the path, soft connected nodes glow gently, symbolizing continuous care and growth from childhood to adulthood. The colors are soft cream, sage green, and gentle teal." id="145" name="Google Shape;145;p18"/>
            <p:cNvPicPr preferRelativeResize="0"/>
            <p:nvPr/>
          </p:nvPicPr>
          <p:blipFill rotWithShape="1">
            <a:blip r:embed="rId3">
              <a:alphaModFix/>
            </a:blip>
            <a:srcRect b="0" l="1784" r="1784" t="0"/>
            <a:stretch/>
          </p:blipFill>
          <p:spPr>
            <a:xfrm>
              <a:off x="0" y="0"/>
              <a:ext cx="3429000" cy="26670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pic>
          <p:nvPicPr>
            <p:cNvPr id="146" name="Google Shape;14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66687" y="-109537"/>
              <a:ext cx="3762300" cy="3000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8"/>
          <p:cNvGrpSpPr/>
          <p:nvPr/>
        </p:nvGrpSpPr>
        <p:grpSpPr>
          <a:xfrm>
            <a:off x="4567238" y="1695450"/>
            <a:ext cx="4010100" cy="2785988"/>
            <a:chOff x="-4762" y="-19050"/>
            <a:chExt cx="4010100" cy="2785988"/>
          </a:xfrm>
        </p:grpSpPr>
        <p:grpSp>
          <p:nvGrpSpPr>
            <p:cNvPr id="148" name="Google Shape;148;p18"/>
            <p:cNvGrpSpPr/>
            <p:nvPr/>
          </p:nvGrpSpPr>
          <p:grpSpPr>
            <a:xfrm>
              <a:off x="0" y="-19050"/>
              <a:ext cx="4000500" cy="781050"/>
              <a:chOff x="0" y="-19050"/>
              <a:chExt cx="4000500" cy="781050"/>
            </a:xfrm>
          </p:grpSpPr>
          <p:grpSp>
            <p:nvGrpSpPr>
              <p:cNvPr id="149" name="Google Shape;149;p18"/>
              <p:cNvGrpSpPr/>
              <p:nvPr/>
            </p:nvGrpSpPr>
            <p:grpSpPr>
              <a:xfrm>
                <a:off x="0" y="-19050"/>
                <a:ext cx="457200" cy="476250"/>
                <a:chOff x="0" y="-19050"/>
                <a:chExt cx="457200" cy="476250"/>
              </a:xfrm>
            </p:grpSpPr>
            <p:sp>
              <p:nvSpPr>
                <p:cNvPr id="150" name="Google Shape;150;p18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ellipse">
                  <a:avLst/>
                </a:prstGeom>
                <a:solidFill>
                  <a:srgbClr val="F4EFE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" name="Google Shape;151;p18"/>
                <p:cNvSpPr/>
                <p:nvPr/>
              </p:nvSpPr>
              <p:spPr>
                <a:xfrm>
                  <a:off x="104775" y="95250"/>
                  <a:ext cx="247800" cy="2343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51231" y="111707"/>
                      </a:lnTo>
                      <a:cubicBezTo>
                        <a:pt x="20308" y="81951"/>
                        <a:pt x="0" y="62439"/>
                        <a:pt x="0" y="36585"/>
                      </a:cubicBezTo>
                      <a:cubicBezTo>
                        <a:pt x="0" y="16098"/>
                        <a:pt x="15231" y="0"/>
                        <a:pt x="34615" y="0"/>
                      </a:cubicBezTo>
                      <a:cubicBezTo>
                        <a:pt x="45692" y="0"/>
                        <a:pt x="55846" y="5366"/>
                        <a:pt x="60000" y="14146"/>
                      </a:cubicBezTo>
                      <a:cubicBezTo>
                        <a:pt x="64154" y="5366"/>
                        <a:pt x="74308" y="0"/>
                        <a:pt x="85385" y="0"/>
                      </a:cubicBezTo>
                      <a:cubicBezTo>
                        <a:pt x="104769" y="0"/>
                        <a:pt x="120000" y="16098"/>
                        <a:pt x="120000" y="36585"/>
                      </a:cubicBezTo>
                      <a:cubicBezTo>
                        <a:pt x="120000" y="62439"/>
                        <a:pt x="99692" y="81951"/>
                        <a:pt x="68769" y="111707"/>
                      </a:cubicBezTo>
                      <a:lnTo>
                        <a:pt x="60000" y="120000"/>
                      </a:lnTo>
                      <a:close/>
                    </a:path>
                  </a:pathLst>
                </a:custGeom>
                <a:solidFill>
                  <a:srgbClr val="F2A68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18"/>
                <p:cNvSpPr/>
                <p:nvPr/>
              </p:nvSpPr>
              <p:spPr>
                <a:xfrm>
                  <a:off x="257175" y="-19050"/>
                  <a:ext cx="133500" cy="1335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77143" y="77143"/>
                      </a:lnTo>
                      <a:lnTo>
                        <a:pt x="120000" y="60000"/>
                      </a:lnTo>
                      <a:lnTo>
                        <a:pt x="77143" y="42857"/>
                      </a:lnTo>
                      <a:lnTo>
                        <a:pt x="60000" y="0"/>
                      </a:lnTo>
                      <a:lnTo>
                        <a:pt x="42857" y="42857"/>
                      </a:lnTo>
                      <a:lnTo>
                        <a:pt x="0" y="60000"/>
                      </a:lnTo>
                      <a:lnTo>
                        <a:pt x="42857" y="77143"/>
                      </a:lnTo>
                      <a:close/>
                    </a:path>
                  </a:pathLst>
                </a:custGeom>
                <a:solidFill>
                  <a:srgbClr val="F9D47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3" name="Google Shape;153;p18"/>
              <p:cNvSpPr txBox="1"/>
              <p:nvPr/>
            </p:nvSpPr>
            <p:spPr>
              <a:xfrm>
                <a:off x="609600" y="0"/>
                <a:ext cx="3390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2C241B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rPr>
                  <a:t>Continuous Adaptation</a:t>
                </a:r>
                <a:endParaRPr b="0" sz="15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C241B"/>
                    </a:solidFill>
                    <a:latin typeface="Nunito"/>
                    <a:ea typeface="Nunito"/>
                    <a:cs typeface="Nunito"/>
                    <a:sym typeface="Nunito"/>
                  </a:rPr>
                  <a:t>Care programs that evolve alongside the individual as they grow and their needs change.</a:t>
                </a:r>
                <a:endParaRPr b="0" sz="1200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54" name="Google Shape;154;p18"/>
            <p:cNvGrpSpPr/>
            <p:nvPr/>
          </p:nvGrpSpPr>
          <p:grpSpPr>
            <a:xfrm>
              <a:off x="0" y="933450"/>
              <a:ext cx="4000500" cy="781050"/>
              <a:chOff x="0" y="-19050"/>
              <a:chExt cx="4000500" cy="781050"/>
            </a:xfrm>
          </p:grpSpPr>
          <p:grpSp>
            <p:nvGrpSpPr>
              <p:cNvPr id="155" name="Google Shape;155;p18"/>
              <p:cNvGrpSpPr/>
              <p:nvPr/>
            </p:nvGrpSpPr>
            <p:grpSpPr>
              <a:xfrm>
                <a:off x="0" y="-19050"/>
                <a:ext cx="457200" cy="476250"/>
                <a:chOff x="0" y="-19050"/>
                <a:chExt cx="457200" cy="476250"/>
              </a:xfrm>
            </p:grpSpPr>
            <p:sp>
              <p:nvSpPr>
                <p:cNvPr id="156" name="Google Shape;156;p18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ellipse">
                  <a:avLst/>
                </a:prstGeom>
                <a:solidFill>
                  <a:srgbClr val="F4EFE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18"/>
                <p:cNvSpPr/>
                <p:nvPr/>
              </p:nvSpPr>
              <p:spPr>
                <a:xfrm>
                  <a:off x="104775" y="95250"/>
                  <a:ext cx="247800" cy="2343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51231" y="111707"/>
                      </a:lnTo>
                      <a:cubicBezTo>
                        <a:pt x="20308" y="81951"/>
                        <a:pt x="0" y="62439"/>
                        <a:pt x="0" y="36585"/>
                      </a:cubicBezTo>
                      <a:cubicBezTo>
                        <a:pt x="0" y="16098"/>
                        <a:pt x="15231" y="0"/>
                        <a:pt x="34615" y="0"/>
                      </a:cubicBezTo>
                      <a:cubicBezTo>
                        <a:pt x="45692" y="0"/>
                        <a:pt x="55846" y="5366"/>
                        <a:pt x="60000" y="14146"/>
                      </a:cubicBezTo>
                      <a:cubicBezTo>
                        <a:pt x="64154" y="5366"/>
                        <a:pt x="74308" y="0"/>
                        <a:pt x="85385" y="0"/>
                      </a:cubicBezTo>
                      <a:cubicBezTo>
                        <a:pt x="104769" y="0"/>
                        <a:pt x="120000" y="16098"/>
                        <a:pt x="120000" y="36585"/>
                      </a:cubicBezTo>
                      <a:cubicBezTo>
                        <a:pt x="120000" y="62439"/>
                        <a:pt x="99692" y="81951"/>
                        <a:pt x="68769" y="111707"/>
                      </a:cubicBezTo>
                      <a:lnTo>
                        <a:pt x="60000" y="120000"/>
                      </a:lnTo>
                      <a:close/>
                    </a:path>
                  </a:pathLst>
                </a:custGeom>
                <a:solidFill>
                  <a:srgbClr val="F2A68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8"/>
                <p:cNvSpPr/>
                <p:nvPr/>
              </p:nvSpPr>
              <p:spPr>
                <a:xfrm>
                  <a:off x="257175" y="-19050"/>
                  <a:ext cx="133500" cy="1335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77143" y="77143"/>
                      </a:lnTo>
                      <a:lnTo>
                        <a:pt x="120000" y="60000"/>
                      </a:lnTo>
                      <a:lnTo>
                        <a:pt x="77143" y="42857"/>
                      </a:lnTo>
                      <a:lnTo>
                        <a:pt x="60000" y="0"/>
                      </a:lnTo>
                      <a:lnTo>
                        <a:pt x="42857" y="42857"/>
                      </a:lnTo>
                      <a:lnTo>
                        <a:pt x="0" y="60000"/>
                      </a:lnTo>
                      <a:lnTo>
                        <a:pt x="42857" y="77143"/>
                      </a:lnTo>
                      <a:close/>
                    </a:path>
                  </a:pathLst>
                </a:custGeom>
                <a:solidFill>
                  <a:srgbClr val="F9D47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" name="Google Shape;159;p18"/>
              <p:cNvSpPr txBox="1"/>
              <p:nvPr/>
            </p:nvSpPr>
            <p:spPr>
              <a:xfrm>
                <a:off x="609600" y="0"/>
                <a:ext cx="3390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2C241B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rPr>
                  <a:t>Lifelong Support</a:t>
                </a:r>
                <a:endParaRPr b="0" sz="15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C241B"/>
                    </a:solidFill>
                    <a:latin typeface="Nunito"/>
                    <a:ea typeface="Nunito"/>
                    <a:cs typeface="Nunito"/>
                    <a:sym typeface="Nunito"/>
                  </a:rPr>
                  <a:t>Moving beyond short-term fixes to focus on the entire lifespan.</a:t>
                </a:r>
                <a:endParaRPr b="0" sz="1200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60" name="Google Shape;160;p18"/>
            <p:cNvGrpSpPr/>
            <p:nvPr/>
          </p:nvGrpSpPr>
          <p:grpSpPr>
            <a:xfrm>
              <a:off x="-4762" y="1900238"/>
              <a:ext cx="4010100" cy="866700"/>
              <a:chOff x="-4762" y="-4762"/>
              <a:chExt cx="4010100" cy="866700"/>
            </a:xfrm>
          </p:grpSpPr>
          <p:pic>
            <p:nvPicPr>
              <p:cNvPr id="161" name="Google Shape;161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4010100" cy="8667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2" name="Google Shape;162;p18"/>
              <p:cNvGrpSpPr/>
              <p:nvPr/>
            </p:nvGrpSpPr>
            <p:grpSpPr>
              <a:xfrm>
                <a:off x="114300" y="180975"/>
                <a:ext cx="457200" cy="476250"/>
                <a:chOff x="0" y="-19050"/>
                <a:chExt cx="457200" cy="476250"/>
              </a:xfrm>
            </p:grpSpPr>
            <p:sp>
              <p:nvSpPr>
                <p:cNvPr id="163" name="Google Shape;163;p18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ellipse">
                  <a:avLst/>
                </a:prstGeom>
                <a:solidFill>
                  <a:srgbClr val="F4EFE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18"/>
                <p:cNvSpPr/>
                <p:nvPr/>
              </p:nvSpPr>
              <p:spPr>
                <a:xfrm>
                  <a:off x="104775" y="95250"/>
                  <a:ext cx="247800" cy="2343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51231" y="111707"/>
                      </a:lnTo>
                      <a:cubicBezTo>
                        <a:pt x="20308" y="81951"/>
                        <a:pt x="0" y="62439"/>
                        <a:pt x="0" y="36585"/>
                      </a:cubicBezTo>
                      <a:cubicBezTo>
                        <a:pt x="0" y="16098"/>
                        <a:pt x="15231" y="0"/>
                        <a:pt x="34615" y="0"/>
                      </a:cubicBezTo>
                      <a:cubicBezTo>
                        <a:pt x="45692" y="0"/>
                        <a:pt x="55846" y="5366"/>
                        <a:pt x="60000" y="14146"/>
                      </a:cubicBezTo>
                      <a:cubicBezTo>
                        <a:pt x="64154" y="5366"/>
                        <a:pt x="74308" y="0"/>
                        <a:pt x="85385" y="0"/>
                      </a:cubicBezTo>
                      <a:cubicBezTo>
                        <a:pt x="104769" y="0"/>
                        <a:pt x="120000" y="16098"/>
                        <a:pt x="120000" y="36585"/>
                      </a:cubicBezTo>
                      <a:cubicBezTo>
                        <a:pt x="120000" y="62439"/>
                        <a:pt x="99692" y="81951"/>
                        <a:pt x="68769" y="111707"/>
                      </a:cubicBezTo>
                      <a:lnTo>
                        <a:pt x="60000" y="120000"/>
                      </a:lnTo>
                      <a:close/>
                    </a:path>
                  </a:pathLst>
                </a:custGeom>
                <a:solidFill>
                  <a:srgbClr val="F2A68D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" name="Google Shape;165;p18"/>
                <p:cNvSpPr/>
                <p:nvPr/>
              </p:nvSpPr>
              <p:spPr>
                <a:xfrm>
                  <a:off x="257175" y="-19050"/>
                  <a:ext cx="133500" cy="1335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120000"/>
                      </a:moveTo>
                      <a:lnTo>
                        <a:pt x="77143" y="77143"/>
                      </a:lnTo>
                      <a:lnTo>
                        <a:pt x="120000" y="60000"/>
                      </a:lnTo>
                      <a:lnTo>
                        <a:pt x="77143" y="42857"/>
                      </a:lnTo>
                      <a:lnTo>
                        <a:pt x="60000" y="0"/>
                      </a:lnTo>
                      <a:lnTo>
                        <a:pt x="42857" y="42857"/>
                      </a:lnTo>
                      <a:lnTo>
                        <a:pt x="0" y="60000"/>
                      </a:lnTo>
                      <a:lnTo>
                        <a:pt x="42857" y="77143"/>
                      </a:lnTo>
                      <a:close/>
                    </a:path>
                  </a:pathLst>
                </a:custGeom>
                <a:solidFill>
                  <a:srgbClr val="F9D47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6" name="Google Shape;166;p18"/>
              <p:cNvSpPr txBox="1"/>
              <p:nvPr/>
            </p:nvSpPr>
            <p:spPr>
              <a:xfrm>
                <a:off x="723900" y="142875"/>
                <a:ext cx="3143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F2A68D"/>
                    </a:solidFill>
                    <a:latin typeface="Quicksand SemiBold"/>
                    <a:ea typeface="Quicksand SemiBold"/>
                    <a:cs typeface="Quicksand SemiBold"/>
                    <a:sym typeface="Quicksand SemiBold"/>
                  </a:rPr>
                  <a:t>Improved Outcomes</a:t>
                </a:r>
                <a:endParaRPr b="0" sz="1388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2C241B"/>
                    </a:solidFill>
                    <a:latin typeface="Nunito"/>
                    <a:ea typeface="Nunito"/>
                    <a:cs typeface="Nunito"/>
                    <a:sym typeface="Nunito"/>
                  </a:rPr>
                  <a:t>Dedicated to enhancing longitudinal outcomes through tailored, responsive care.</a:t>
                </a:r>
                <a:endParaRPr b="0" sz="1110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9"/>
          <p:cNvGrpSpPr/>
          <p:nvPr/>
        </p:nvGrpSpPr>
        <p:grpSpPr>
          <a:xfrm>
            <a:off x="371475" y="276225"/>
            <a:ext cx="8391525" cy="438150"/>
            <a:chOff x="371475" y="276225"/>
            <a:chExt cx="8391525" cy="438150"/>
          </a:xfrm>
        </p:grpSpPr>
        <p:grpSp>
          <p:nvGrpSpPr>
            <p:cNvPr id="172" name="Google Shape;172;p19"/>
            <p:cNvGrpSpPr/>
            <p:nvPr/>
          </p:nvGrpSpPr>
          <p:grpSpPr>
            <a:xfrm>
              <a:off x="371475" y="276225"/>
              <a:ext cx="2295525" cy="333525"/>
              <a:chOff x="-9525" y="-9525"/>
              <a:chExt cx="2295525" cy="333525"/>
            </a:xfrm>
          </p:grpSpPr>
          <p:sp>
            <p:nvSpPr>
              <p:cNvPr id="173" name="Google Shape;173;p19"/>
              <p:cNvSpPr/>
              <p:nvPr/>
            </p:nvSpPr>
            <p:spPr>
              <a:xfrm>
                <a:off x="38100" y="38100"/>
                <a:ext cx="228600" cy="228600"/>
              </a:xfrm>
              <a:prstGeom prst="ellipse">
                <a:avLst/>
              </a:prstGeom>
              <a:solidFill>
                <a:srgbClr val="F9D47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2A68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75" name="Google Shape;17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3240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19"/>
              <p:cNvSpPr txBox="1"/>
              <p:nvPr/>
            </p:nvSpPr>
            <p:spPr>
              <a:xfrm>
                <a:off x="381000" y="3810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5D9B9B"/>
                    </a:solidFill>
                    <a:latin typeface="Nunito"/>
                    <a:ea typeface="Nunito"/>
                    <a:cs typeface="Nunito"/>
                    <a:sym typeface="Nunito"/>
                  </a:rPr>
                  <a:t>FS Autism Hackathon '26</a:t>
                </a:r>
                <a:endParaRPr b="1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cxnSp>
          <p:nvCxnSpPr>
            <p:cNvPr id="177" name="Google Shape;177;p19"/>
            <p:cNvCxnSpPr/>
            <p:nvPr/>
          </p:nvCxnSpPr>
          <p:spPr>
            <a:xfrm>
              <a:off x="381000" y="71437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4EFE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" name="Google Shape;178;p19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98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A secure environment for sensitive medical and educational data is our foundation of trust.</a:t>
            </a:r>
            <a:endParaRPr b="1" sz="2498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79" name="Google Shape;179;p19"/>
          <p:cNvGrpSpPr/>
          <p:nvPr/>
        </p:nvGrpSpPr>
        <p:grpSpPr>
          <a:xfrm>
            <a:off x="571500" y="1905000"/>
            <a:ext cx="952500" cy="1047900"/>
            <a:chOff x="0" y="0"/>
            <a:chExt cx="952500" cy="1047900"/>
          </a:xfrm>
        </p:grpSpPr>
        <p:sp>
          <p:nvSpPr>
            <p:cNvPr id="180" name="Google Shape;180;p19"/>
            <p:cNvSpPr/>
            <p:nvPr/>
          </p:nvSpPr>
          <p:spPr>
            <a:xfrm>
              <a:off x="0" y="0"/>
              <a:ext cx="952500" cy="1047900"/>
            </a:xfrm>
            <a:custGeom>
              <a:rect b="b" l="l" r="r" t="t"/>
              <a:pathLst>
                <a:path extrusionOk="0" h="120000" w="120000">
                  <a:moveTo>
                    <a:pt x="0" y="10909"/>
                  </a:moveTo>
                  <a:cubicBezTo>
                    <a:pt x="0" y="0"/>
                    <a:pt x="120000" y="0"/>
                    <a:pt x="120000" y="10909"/>
                  </a:cubicBezTo>
                  <a:lnTo>
                    <a:pt x="120000" y="65455"/>
                  </a:lnTo>
                  <a:cubicBezTo>
                    <a:pt x="120000" y="98182"/>
                    <a:pt x="60000" y="120000"/>
                    <a:pt x="60000" y="120000"/>
                  </a:cubicBezTo>
                  <a:cubicBezTo>
                    <a:pt x="60000" y="120000"/>
                    <a:pt x="0" y="98182"/>
                    <a:pt x="0" y="65455"/>
                  </a:cubicBezTo>
                  <a:close/>
                </a:path>
              </a:pathLst>
            </a:custGeom>
            <a:solidFill>
              <a:srgbClr val="5D9B9B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42875" y="142875"/>
              <a:ext cx="666900" cy="762000"/>
            </a:xfrm>
            <a:custGeom>
              <a:rect b="b" l="l" r="r" t="t"/>
              <a:pathLst>
                <a:path extrusionOk="0" h="120000" w="120000">
                  <a:moveTo>
                    <a:pt x="0" y="7500"/>
                  </a:moveTo>
                  <a:cubicBezTo>
                    <a:pt x="0" y="0"/>
                    <a:pt x="120000" y="0"/>
                    <a:pt x="120000" y="7500"/>
                  </a:cubicBezTo>
                  <a:lnTo>
                    <a:pt x="120000" y="60000"/>
                  </a:lnTo>
                  <a:cubicBezTo>
                    <a:pt x="120000" y="97500"/>
                    <a:pt x="60000" y="120000"/>
                    <a:pt x="60000" y="120000"/>
                  </a:cubicBezTo>
                  <a:cubicBezTo>
                    <a:pt x="60000" y="120000"/>
                    <a:pt x="0" y="97500"/>
                    <a:pt x="0" y="60000"/>
                  </a:cubicBezTo>
                  <a:close/>
                </a:path>
              </a:pathLst>
            </a:custGeom>
            <a:solidFill>
              <a:srgbClr val="5D9B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333375" y="333375"/>
              <a:ext cx="285900" cy="285900"/>
            </a:xfrm>
            <a:prstGeom prst="ellipse">
              <a:avLst/>
            </a:prstGeom>
            <a:solidFill>
              <a:srgbClr val="FDFBF7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3" name="Google Shape;18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9575" y="419100"/>
              <a:ext cx="133500" cy="104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9"/>
          <p:cNvSpPr txBox="1"/>
          <p:nvPr/>
        </p:nvSpPr>
        <p:spPr>
          <a:xfrm>
            <a:off x="1905000" y="1905000"/>
            <a:ext cx="6667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Foundation of Trust</a:t>
            </a:r>
            <a:endParaRPr b="0" sz="1403">
              <a:solidFill>
                <a:srgbClr val="5D9B9B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48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rPr>
              <a:t>Prioritizing a secure environment above all else to protect families and foster a sense of safety.</a:t>
            </a:r>
            <a:endParaRPr b="0" sz="1148">
              <a:solidFill>
                <a:srgbClr val="2C241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40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Data Privacy &amp; Standards</a:t>
            </a:r>
            <a:endParaRPr b="0" sz="1403">
              <a:solidFill>
                <a:srgbClr val="5D9B9B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48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rPr>
              <a:t>Strict adherence to industry privacy standards, including HIPAA-like security protocols and rigorous access controls.</a:t>
            </a:r>
            <a:endParaRPr b="0" sz="1148">
              <a:solidFill>
                <a:srgbClr val="2C241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40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Protecting Sensitive Records</a:t>
            </a:r>
            <a:endParaRPr b="0" sz="1403">
              <a:solidFill>
                <a:srgbClr val="5D9B9B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48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rPr>
              <a:t>Advanced safeguarding of personal medical records, clinical evaluations, and individual educational data.</a:t>
            </a:r>
            <a:endParaRPr b="0" sz="1148">
              <a:solidFill>
                <a:srgbClr val="2C241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5" name="Google Shape;185;p19"/>
          <p:cNvGrpSpPr/>
          <p:nvPr/>
        </p:nvGrpSpPr>
        <p:grpSpPr>
          <a:xfrm>
            <a:off x="542925" y="3429000"/>
            <a:ext cx="1200300" cy="847800"/>
            <a:chOff x="-28575" y="0"/>
            <a:chExt cx="1200300" cy="847800"/>
          </a:xfrm>
        </p:grpSpPr>
        <p:pic>
          <p:nvPicPr>
            <p:cNvPr id="186" name="Google Shape;186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8575" y="0"/>
              <a:ext cx="1200300" cy="8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9"/>
            <p:cNvSpPr txBox="1"/>
            <p:nvPr/>
          </p:nvSpPr>
          <p:spPr>
            <a:xfrm>
              <a:off x="95250" y="95250"/>
              <a:ext cx="95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Secure Environment</a:t>
              </a:r>
              <a:endParaRPr b="1" sz="9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descr="A soft, compassionate paper-cutout illustration of a pair of hands gently holding a glowing heart, surrounded by soft organic green and teal leaves. The style is neuro-inclusive and calming.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286000"/>
            <a:ext cx="2095500" cy="2095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0"/>
          <p:cNvGrpSpPr/>
          <p:nvPr/>
        </p:nvGrpSpPr>
        <p:grpSpPr>
          <a:xfrm>
            <a:off x="381000" y="285750"/>
            <a:ext cx="2286000" cy="324000"/>
            <a:chOff x="0" y="0"/>
            <a:chExt cx="2286000" cy="324000"/>
          </a:xfrm>
        </p:grpSpPr>
        <p:sp>
          <p:nvSpPr>
            <p:cNvPr id="194" name="Google Shape;194;p20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F9D4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2A68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381000" y="381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rPr>
                <a:t>FS Autism Hackathon '26</a:t>
              </a:r>
              <a:endParaRPr b="1" sz="900">
                <a:solidFill>
                  <a:srgbClr val="5D9B9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197" name="Google Shape;197;p20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very subtle, minimalist background with organic, flowing lines resembling a neural network or a stylized winding path in soft cream and sage green. Clean and spacious for a title slide.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0"/>
          <p:cNvGrpSpPr/>
          <p:nvPr/>
        </p:nvGrpSpPr>
        <p:grpSpPr>
          <a:xfrm>
            <a:off x="762000" y="1714500"/>
            <a:ext cx="7620000" cy="2000250"/>
            <a:chOff x="0" y="0"/>
            <a:chExt cx="7620000" cy="2000250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0" y="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2C241B"/>
                  </a:solidFill>
                  <a:latin typeface="Quicksand"/>
                  <a:ea typeface="Quicksand"/>
                  <a:cs typeface="Quicksand"/>
                  <a:sym typeface="Quicksand"/>
                </a:rPr>
                <a:t>Architectural Paths for AI-Assis</a:t>
              </a:r>
              <a:endParaRPr b="1" sz="36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0" y="12382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Showcasing frameworks to balance speed, analytical scale, customizability, and rapid zero-code synthesis for hackathon evaluations.</a:t>
              </a:r>
              <a:endParaRPr b="0" sz="16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1"/>
          <p:cNvGrpSpPr/>
          <p:nvPr/>
        </p:nvGrpSpPr>
        <p:grpSpPr>
          <a:xfrm>
            <a:off x="381000" y="285750"/>
            <a:ext cx="2286000" cy="324000"/>
            <a:chOff x="0" y="0"/>
            <a:chExt cx="2286000" cy="324000"/>
          </a:xfrm>
        </p:grpSpPr>
        <p:sp>
          <p:nvSpPr>
            <p:cNvPr id="207" name="Google Shape;207;p21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F9D4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2A68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381000" y="381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rPr>
                <a:t>FS Autism Hackathon '26</a:t>
              </a:r>
              <a:endParaRPr b="1" sz="900">
                <a:solidFill>
                  <a:srgbClr val="5D9B9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210" name="Google Shape;210;p21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1"/>
          <p:cNvSpPr txBox="1"/>
          <p:nvPr/>
        </p:nvSpPr>
        <p:spPr>
          <a:xfrm>
            <a:off x="571500" y="857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Data Ingestion Layer</a:t>
            </a:r>
            <a:endParaRPr b="1" sz="2400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1524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rPr>
              <a:t>The foundation of all four architectures is a robust ingestion layer, designed to handle diverse clinical inputs ranging from flat PDFs to relational structures.</a:t>
            </a:r>
            <a:endParaRPr b="0" sz="1400">
              <a:solidFill>
                <a:srgbClr val="594A3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soft, paper-cut style illustration of digital documents and data streams flowing into a central organic storage hub. Colors: soft cream, sage green, and gentle teal.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95500"/>
            <a:ext cx="3810000" cy="2857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571500" y="2095500"/>
            <a:ext cx="3810000" cy="2857500"/>
          </a:xfrm>
          <a:prstGeom prst="roundRect">
            <a:avLst>
              <a:gd fmla="val 8000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21"/>
          <p:cNvGrpSpPr/>
          <p:nvPr/>
        </p:nvGrpSpPr>
        <p:grpSpPr>
          <a:xfrm>
            <a:off x="4762500" y="2095500"/>
            <a:ext cx="3810000" cy="1238400"/>
            <a:chOff x="0" y="0"/>
            <a:chExt cx="3810000" cy="1238400"/>
          </a:xfrm>
        </p:grpSpPr>
        <p:sp>
          <p:nvSpPr>
            <p:cNvPr id="216" name="Google Shape;216;p21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90500" y="190500"/>
              <a:ext cx="457200" cy="457200"/>
            </a:xfrm>
            <a:prstGeom prst="ellipse">
              <a:avLst/>
            </a:prstGeom>
            <a:solidFill>
              <a:srgbClr val="F4EF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762000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GCS / BigQuery</a:t>
              </a:r>
              <a:endParaRPr b="0" sz="15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762000" y="47625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Handles relational tables (e.g., WISC score indexes) and flat evaluation PDFs.</a:t>
              </a:r>
              <a:endParaRPr b="0" sz="12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220" name="Google Shape;22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325" y="314325"/>
              <a:ext cx="209700" cy="20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p21"/>
          <p:cNvGrpSpPr/>
          <p:nvPr/>
        </p:nvGrpSpPr>
        <p:grpSpPr>
          <a:xfrm>
            <a:off x="4762500" y="3524250"/>
            <a:ext cx="3810000" cy="1238400"/>
            <a:chOff x="0" y="0"/>
            <a:chExt cx="3810000" cy="1238400"/>
          </a:xfrm>
        </p:grpSpPr>
        <p:sp>
          <p:nvSpPr>
            <p:cNvPr id="222" name="Google Shape;222;p21"/>
            <p:cNvSpPr/>
            <p:nvPr/>
          </p:nvSpPr>
          <p:spPr>
            <a:xfrm>
              <a:off x="0" y="0"/>
              <a:ext cx="3810000" cy="12384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190500" y="190500"/>
              <a:ext cx="457200" cy="457200"/>
            </a:xfrm>
            <a:prstGeom prst="ellipse">
              <a:avLst/>
            </a:prstGeom>
            <a:solidFill>
              <a:srgbClr val="F4EF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762000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Direct Drag-and-Drop</a:t>
              </a:r>
              <a:endParaRPr b="0" sz="1500">
                <a:solidFill>
                  <a:srgbClr val="F2A68D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762000" y="47625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Enables immediate local patient PDF uploads for fast testing.</a:t>
              </a:r>
              <a:endParaRPr b="0" sz="12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226" name="Google Shape;226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3850" y="3238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2"/>
          <p:cNvGrpSpPr/>
          <p:nvPr/>
        </p:nvGrpSpPr>
        <p:grpSpPr>
          <a:xfrm>
            <a:off x="381000" y="285750"/>
            <a:ext cx="2286000" cy="324000"/>
            <a:chOff x="0" y="0"/>
            <a:chExt cx="2286000" cy="324000"/>
          </a:xfrm>
        </p:grpSpPr>
        <p:sp>
          <p:nvSpPr>
            <p:cNvPr id="232" name="Google Shape;232;p22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F9D4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114300" y="114300"/>
              <a:ext cx="114300" cy="114300"/>
            </a:xfrm>
            <a:prstGeom prst="ellipse">
              <a:avLst/>
            </a:prstGeom>
            <a:solidFill>
              <a:srgbClr val="F2A68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381000" y="381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rPr>
                <a:t>FS Autism Hackathon '26</a:t>
              </a:r>
              <a:endParaRPr b="1" sz="900">
                <a:solidFill>
                  <a:srgbClr val="5D9B9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235" name="Google Shape;235;p22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2"/>
          <p:cNvSpPr txBox="1"/>
          <p:nvPr/>
        </p:nvSpPr>
        <p:spPr>
          <a:xfrm>
            <a:off x="571500" y="8572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The Four Architectures</a:t>
            </a:r>
            <a:endParaRPr b="1" sz="2400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13335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rPr>
              <a:t>Choose the right deployment path based on your team's optimization goals and technical expertise.</a:t>
            </a:r>
            <a:endParaRPr b="0" sz="1295">
              <a:solidFill>
                <a:srgbClr val="594A3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8" name="Google Shape;238;p22"/>
          <p:cNvGrpSpPr/>
          <p:nvPr/>
        </p:nvGrpSpPr>
        <p:grpSpPr>
          <a:xfrm>
            <a:off x="571500" y="2000250"/>
            <a:ext cx="1905000" cy="2476500"/>
            <a:chOff x="0" y="0"/>
            <a:chExt cx="1905000" cy="2476500"/>
          </a:xfrm>
        </p:grpSpPr>
        <p:sp>
          <p:nvSpPr>
            <p:cNvPr id="239" name="Google Shape;239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oft, paper-cut illustration of a smart notebook with glowing digital connections, cream and sage green tones." id="240" name="Google Shape;240;p22"/>
            <p:cNvPicPr preferRelativeResize="0"/>
            <p:nvPr/>
          </p:nvPicPr>
          <p:blipFill rotWithShape="1">
            <a:blip r:embed="rId3">
              <a:alphaModFix/>
            </a:blip>
            <a:srcRect b="3332" l="0" r="0" t="3332"/>
            <a:stretch/>
          </p:blipFill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sp>
          <p:nvSpPr>
            <p:cNvPr id="241" name="Google Shape;241;p22"/>
            <p:cNvSpPr txBox="1"/>
            <p:nvPr/>
          </p:nvSpPr>
          <p:spPr>
            <a:xfrm>
              <a:off x="142875" y="1428750"/>
              <a:ext cx="1619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Option 1: NotebookLM</a:t>
              </a:r>
              <a:endParaRPr b="0" sz="120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Zero-code document RAG and Audio podcast generation for instant synthesis.</a:t>
              </a:r>
              <a:endParaRPr b="0" sz="971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2" name="Google Shape;242;p22"/>
          <p:cNvGrpSpPr/>
          <p:nvPr/>
        </p:nvGrpSpPr>
        <p:grpSpPr>
          <a:xfrm>
            <a:off x="2667000" y="2000250"/>
            <a:ext cx="1905000" cy="2476500"/>
            <a:chOff x="0" y="0"/>
            <a:chExt cx="1905000" cy="2476500"/>
          </a:xfrm>
        </p:grpSpPr>
        <p:sp>
          <p:nvSpPr>
            <p:cNvPr id="243" name="Google Shape;243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oft, paper-cut illustration of a digital toolkit with a play button, gentle teal and coral accents." id="244" name="Google Shape;244;p22"/>
            <p:cNvPicPr preferRelativeResize="0"/>
            <p:nvPr/>
          </p:nvPicPr>
          <p:blipFill rotWithShape="1">
            <a:blip r:embed="rId4">
              <a:alphaModFix/>
            </a:blip>
            <a:srcRect b="3332" l="0" r="0" t="3332"/>
            <a:stretch/>
          </p:blipFill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sp>
          <p:nvSpPr>
            <p:cNvPr id="245" name="Google Shape;245;p22"/>
            <p:cNvSpPr txBox="1"/>
            <p:nvPr/>
          </p:nvSpPr>
          <p:spPr>
            <a:xfrm>
              <a:off x="142875" y="1428750"/>
              <a:ext cx="1619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Option 2: </a:t>
              </a:r>
              <a:r>
                <a:rPr lang="en" sz="1203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Gemini Enterprise App</a:t>
              </a:r>
              <a:endParaRPr b="0" sz="1203">
                <a:solidFill>
                  <a:srgbClr val="F2A68D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GUI-first search app. Fast deployment with guided logic.</a:t>
              </a:r>
              <a:endParaRPr b="0" sz="971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4762500" y="2000250"/>
            <a:ext cx="1905000" cy="2476500"/>
            <a:chOff x="0" y="0"/>
            <a:chExt cx="1905000" cy="2476500"/>
          </a:xfrm>
        </p:grpSpPr>
        <p:sp>
          <p:nvSpPr>
            <p:cNvPr id="247" name="Google Shape;247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oft, paper-cut illustration of a massive data grid with glowing SQL symbols, amber and cream tones." id="248" name="Google Shape;248;p22"/>
            <p:cNvPicPr preferRelativeResize="0"/>
            <p:nvPr/>
          </p:nvPicPr>
          <p:blipFill rotWithShape="1">
            <a:blip r:embed="rId5">
              <a:alphaModFix/>
            </a:blip>
            <a:srcRect b="3332" l="0" r="0" t="3332"/>
            <a:stretch/>
          </p:blipFill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sp>
          <p:nvSpPr>
            <p:cNvPr id="249" name="Google Shape;249;p22"/>
            <p:cNvSpPr txBox="1"/>
            <p:nvPr/>
          </p:nvSpPr>
          <p:spPr>
            <a:xfrm>
              <a:off x="142875" y="1428750"/>
              <a:ext cx="1619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F9D477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Option 3: </a:t>
              </a:r>
              <a:r>
                <a:rPr lang="en" sz="1203">
                  <a:solidFill>
                    <a:srgbClr val="F9D477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BigQuery Notebook</a:t>
              </a:r>
              <a:endParaRPr b="0" sz="1203">
                <a:solidFill>
                  <a:srgbClr val="F9D477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RAG &amp; Gemini text-synthesis operating at massive scale inside BigQuery.</a:t>
              </a:r>
              <a:endParaRPr b="0" sz="971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0" name="Google Shape;250;p22"/>
          <p:cNvGrpSpPr/>
          <p:nvPr/>
        </p:nvGrpSpPr>
        <p:grpSpPr>
          <a:xfrm>
            <a:off x="6858000" y="2000250"/>
            <a:ext cx="1905000" cy="2476500"/>
            <a:chOff x="0" y="0"/>
            <a:chExt cx="1905000" cy="2476500"/>
          </a:xfrm>
        </p:grpSpPr>
        <p:sp>
          <p:nvSpPr>
            <p:cNvPr id="251" name="Google Shape;251;p22"/>
            <p:cNvSpPr/>
            <p:nvPr/>
          </p:nvSpPr>
          <p:spPr>
            <a:xfrm>
              <a:off x="0" y="0"/>
              <a:ext cx="1905000" cy="2476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oft, paper-cut illustration of a Python snake symbol with engine gears, sage green and teal tones." id="252" name="Google Shape;252;p22"/>
            <p:cNvPicPr preferRelativeResize="0"/>
            <p:nvPr/>
          </p:nvPicPr>
          <p:blipFill rotWithShape="1">
            <a:blip r:embed="rId6">
              <a:alphaModFix/>
            </a:blip>
            <a:srcRect b="3332" l="0" r="0" t="3332"/>
            <a:stretch/>
          </p:blipFill>
          <p:spPr>
            <a:xfrm>
              <a:off x="0" y="0"/>
              <a:ext cx="1905000" cy="13335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sp>
          <p:nvSpPr>
            <p:cNvPr id="253" name="Google Shape;253;p22"/>
            <p:cNvSpPr txBox="1"/>
            <p:nvPr/>
          </p:nvSpPr>
          <p:spPr>
            <a:xfrm>
              <a:off x="142875" y="1428750"/>
              <a:ext cx="1619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Option 4: </a:t>
              </a:r>
              <a:r>
                <a:rPr lang="en" sz="1203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GEAP + ADK</a:t>
              </a:r>
              <a:endParaRPr b="0" sz="1203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2C241B"/>
                  </a:solidFill>
                  <a:latin typeface="Nunito"/>
                  <a:ea typeface="Nunito"/>
                  <a:cs typeface="Nunito"/>
                  <a:sym typeface="Nunito"/>
                </a:rPr>
                <a:t>Python-native Agent Runtime optimized for highly custom deployments and evals.</a:t>
              </a:r>
              <a:endParaRPr b="0" sz="971">
                <a:solidFill>
                  <a:srgbClr val="2C241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3"/>
          <p:cNvGrpSpPr/>
          <p:nvPr/>
        </p:nvGrpSpPr>
        <p:grpSpPr>
          <a:xfrm>
            <a:off x="381000" y="285750"/>
            <a:ext cx="2286000" cy="324000"/>
            <a:chOff x="0" y="0"/>
            <a:chExt cx="2286000" cy="3240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0"/>
              <a:ext cx="228600" cy="228600"/>
            </a:xfrm>
            <a:prstGeom prst="ellipse">
              <a:avLst/>
            </a:prstGeom>
            <a:solidFill>
              <a:srgbClr val="F9D47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114300" y="114300"/>
              <a:ext cx="114300" cy="114300"/>
            </a:xfrm>
            <a:prstGeom prst="ellipse">
              <a:avLst/>
            </a:prstGeom>
            <a:solidFill>
              <a:srgbClr val="F2A68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381000" y="381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5D9B9B"/>
                  </a:solidFill>
                  <a:latin typeface="Nunito"/>
                  <a:ea typeface="Nunito"/>
                  <a:cs typeface="Nunito"/>
                  <a:sym typeface="Nunito"/>
                </a:rPr>
                <a:t>FS Autism Hackathon '26</a:t>
              </a:r>
              <a:endParaRPr b="1" sz="900">
                <a:solidFill>
                  <a:srgbClr val="5D9B9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262" name="Google Shape;262;p23"/>
          <p:cNvCxnSpPr/>
          <p:nvPr/>
        </p:nvCxnSpPr>
        <p:spPr>
          <a:xfrm>
            <a:off x="381000" y="71437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4EF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3"/>
          <p:cNvSpPr txBox="1"/>
          <p:nvPr/>
        </p:nvSpPr>
        <p:spPr>
          <a:xfrm>
            <a:off x="571500" y="8572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241B"/>
                </a:solidFill>
                <a:latin typeface="Quicksand"/>
                <a:ea typeface="Quicksand"/>
                <a:cs typeface="Quicksand"/>
                <a:sym typeface="Quicksand"/>
              </a:rPr>
              <a:t>Architecture Comparison</a:t>
            </a:r>
            <a:endParaRPr b="1" sz="2400">
              <a:solidFill>
                <a:srgbClr val="2C241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64" name="Google Shape;264;p23"/>
          <p:cNvGrpSpPr/>
          <p:nvPr/>
        </p:nvGrpSpPr>
        <p:grpSpPr>
          <a:xfrm>
            <a:off x="571500" y="1524000"/>
            <a:ext cx="8001000" cy="381000"/>
            <a:chOff x="0" y="0"/>
            <a:chExt cx="8001000" cy="381000"/>
          </a:xfrm>
        </p:grpSpPr>
        <p:sp>
          <p:nvSpPr>
            <p:cNvPr id="265" name="Google Shape;265;p23"/>
            <p:cNvSpPr/>
            <p:nvPr/>
          </p:nvSpPr>
          <p:spPr>
            <a:xfrm>
              <a:off x="0" y="0"/>
              <a:ext cx="8001000" cy="381000"/>
            </a:xfrm>
            <a:prstGeom prst="roundRect">
              <a:avLst>
                <a:gd fmla="val 25000" name="adj"/>
              </a:avLst>
            </a:prstGeom>
            <a:solidFill>
              <a:srgbClr val="F4EFE6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95250" y="0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Option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67" name="Google Shape;267;p23"/>
            <p:cNvSpPr txBox="1"/>
            <p:nvPr/>
          </p:nvSpPr>
          <p:spPr>
            <a:xfrm>
              <a:off x="76200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Architecture Path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68" name="Google Shape;268;p23"/>
            <p:cNvSpPr txBox="1"/>
            <p:nvPr/>
          </p:nvSpPr>
          <p:spPr>
            <a:xfrm>
              <a:off x="2762250" y="0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Speed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4191000" y="0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Customizability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5619750" y="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Primary Use Case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</p:grpSp>
      <p:grpSp>
        <p:nvGrpSpPr>
          <p:cNvPr id="271" name="Google Shape;271;p23"/>
          <p:cNvGrpSpPr/>
          <p:nvPr/>
        </p:nvGrpSpPr>
        <p:grpSpPr>
          <a:xfrm>
            <a:off x="571500" y="2000250"/>
            <a:ext cx="8001000" cy="619200"/>
            <a:chOff x="0" y="0"/>
            <a:chExt cx="8001000" cy="619200"/>
          </a:xfrm>
        </p:grpSpPr>
        <p:sp>
          <p:nvSpPr>
            <p:cNvPr id="272" name="Google Shape;272;p23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fmla="val 2307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142875" y="166688"/>
              <a:ext cx="285900" cy="285900"/>
            </a:xfrm>
            <a:prstGeom prst="ellipse">
              <a:avLst/>
            </a:prstGeom>
            <a:solidFill>
              <a:srgbClr val="5D9B9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3"/>
            <p:cNvSpPr txBox="1"/>
            <p:nvPr/>
          </p:nvSpPr>
          <p:spPr>
            <a:xfrm>
              <a:off x="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1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75" name="Google Shape;275;p23"/>
            <p:cNvSpPr txBox="1"/>
            <p:nvPr/>
          </p:nvSpPr>
          <p:spPr>
            <a:xfrm>
              <a:off x="762000" y="0"/>
              <a:ext cx="1905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NotebookLM</a:t>
              </a:r>
              <a:endParaRPr b="0" sz="1100">
                <a:solidFill>
                  <a:srgbClr val="2C241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276225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Instant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7" name="Google Shape;277;p23"/>
            <p:cNvSpPr txBox="1"/>
            <p:nvPr/>
          </p:nvSpPr>
          <p:spPr>
            <a:xfrm>
              <a:off x="419100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Low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8" name="Google Shape;278;p23"/>
            <p:cNvSpPr txBox="1"/>
            <p:nvPr/>
          </p:nvSpPr>
          <p:spPr>
            <a:xfrm>
              <a:off x="5619750" y="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Zero-code document synthesis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79" name="Google Shape;279;p23"/>
          <p:cNvGrpSpPr/>
          <p:nvPr/>
        </p:nvGrpSpPr>
        <p:grpSpPr>
          <a:xfrm>
            <a:off x="571500" y="2714625"/>
            <a:ext cx="8001000" cy="619200"/>
            <a:chOff x="0" y="0"/>
            <a:chExt cx="8001000" cy="619200"/>
          </a:xfrm>
        </p:grpSpPr>
        <p:sp>
          <p:nvSpPr>
            <p:cNvPr id="280" name="Google Shape;280;p23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fmla="val 2307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142875" y="166688"/>
              <a:ext cx="285900" cy="285900"/>
            </a:xfrm>
            <a:prstGeom prst="ellipse">
              <a:avLst/>
            </a:prstGeom>
            <a:solidFill>
              <a:srgbClr val="F2A68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3"/>
            <p:cNvSpPr txBox="1"/>
            <p:nvPr/>
          </p:nvSpPr>
          <p:spPr>
            <a:xfrm>
              <a:off x="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2A68D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2</a:t>
              </a:r>
              <a:endParaRPr b="0" sz="1100">
                <a:solidFill>
                  <a:srgbClr val="F2A68D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83" name="Google Shape;283;p23"/>
            <p:cNvSpPr txBox="1"/>
            <p:nvPr/>
          </p:nvSpPr>
          <p:spPr>
            <a:xfrm>
              <a:off x="762000" y="0"/>
              <a:ext cx="1905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GE App</a:t>
              </a:r>
              <a:endParaRPr b="0" sz="1100">
                <a:solidFill>
                  <a:srgbClr val="2C241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276225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Fast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85" name="Google Shape;285;p23"/>
            <p:cNvSpPr txBox="1"/>
            <p:nvPr/>
          </p:nvSpPr>
          <p:spPr>
            <a:xfrm>
              <a:off x="419100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Medium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86" name="Google Shape;286;p23"/>
            <p:cNvSpPr txBox="1"/>
            <p:nvPr/>
          </p:nvSpPr>
          <p:spPr>
            <a:xfrm>
              <a:off x="5619750" y="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Managed RAG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87" name="Google Shape;287;p23"/>
          <p:cNvGrpSpPr/>
          <p:nvPr/>
        </p:nvGrpSpPr>
        <p:grpSpPr>
          <a:xfrm>
            <a:off x="571500" y="3429000"/>
            <a:ext cx="8001000" cy="619200"/>
            <a:chOff x="0" y="0"/>
            <a:chExt cx="8001000" cy="619200"/>
          </a:xfrm>
        </p:grpSpPr>
        <p:sp>
          <p:nvSpPr>
            <p:cNvPr id="288" name="Google Shape;288;p23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fmla="val 2307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142875" y="166688"/>
              <a:ext cx="285900" cy="285900"/>
            </a:xfrm>
            <a:prstGeom prst="ellipse">
              <a:avLst/>
            </a:prstGeom>
            <a:solidFill>
              <a:srgbClr val="F9D47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9A040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3</a:t>
              </a:r>
              <a:endParaRPr b="0" sz="1100">
                <a:solidFill>
                  <a:srgbClr val="C9A040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91" name="Google Shape;291;p23"/>
            <p:cNvSpPr txBox="1"/>
            <p:nvPr/>
          </p:nvSpPr>
          <p:spPr>
            <a:xfrm>
              <a:off x="762000" y="0"/>
              <a:ext cx="1905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BigQuery</a:t>
              </a:r>
              <a:endParaRPr b="0" sz="1100">
                <a:solidFill>
                  <a:srgbClr val="2C241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276225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Moderate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93" name="Google Shape;293;p23"/>
            <p:cNvSpPr txBox="1"/>
            <p:nvPr/>
          </p:nvSpPr>
          <p:spPr>
            <a:xfrm>
              <a:off x="419100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High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94" name="Google Shape;294;p23"/>
            <p:cNvSpPr txBox="1"/>
            <p:nvPr/>
          </p:nvSpPr>
          <p:spPr>
            <a:xfrm>
              <a:off x="5619750" y="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High-scale batch synthesis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95" name="Google Shape;295;p23"/>
          <p:cNvGrpSpPr/>
          <p:nvPr/>
        </p:nvGrpSpPr>
        <p:grpSpPr>
          <a:xfrm>
            <a:off x="571500" y="4143375"/>
            <a:ext cx="8001000" cy="619200"/>
            <a:chOff x="0" y="0"/>
            <a:chExt cx="8001000" cy="619200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0"/>
              <a:ext cx="8001000" cy="619200"/>
            </a:xfrm>
            <a:prstGeom prst="roundRect">
              <a:avLst>
                <a:gd fmla="val 2307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142875" y="166688"/>
              <a:ext cx="285900" cy="285900"/>
            </a:xfrm>
            <a:prstGeom prst="ellipse">
              <a:avLst/>
            </a:prstGeom>
            <a:solidFill>
              <a:srgbClr val="5D9B9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0" y="0"/>
              <a:ext cx="57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9B9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4</a:t>
              </a:r>
              <a:endParaRPr b="0" sz="1100">
                <a:solidFill>
                  <a:srgbClr val="5D9B9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762000" y="0"/>
              <a:ext cx="1905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2C241B"/>
                  </a:solidFill>
                  <a:latin typeface="Quicksand SemiBold"/>
                  <a:ea typeface="Quicksand SemiBold"/>
                  <a:cs typeface="Quicksand SemiBold"/>
                  <a:sym typeface="Quicksand SemiBold"/>
                </a:rPr>
                <a:t>GEAP + ADK</a:t>
              </a:r>
              <a:endParaRPr b="0" sz="1100">
                <a:solidFill>
                  <a:srgbClr val="2C241B"/>
                </a:solidFill>
                <a:latin typeface="Quicksand SemiBold"/>
                <a:ea typeface="Quicksand SemiBold"/>
                <a:cs typeface="Quicksand SemiBold"/>
                <a:sym typeface="Quicksand SemiBold"/>
              </a:endParaRPr>
            </a:p>
          </p:txBody>
        </p:sp>
        <p:sp>
          <p:nvSpPr>
            <p:cNvPr id="300" name="Google Shape;300;p23"/>
            <p:cNvSpPr txBox="1"/>
            <p:nvPr/>
          </p:nvSpPr>
          <p:spPr>
            <a:xfrm>
              <a:off x="276225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Slower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4191000" y="0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Maximum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02" name="Google Shape;302;p23"/>
            <p:cNvSpPr txBox="1"/>
            <p:nvPr/>
          </p:nvSpPr>
          <p:spPr>
            <a:xfrm>
              <a:off x="5619750" y="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4A3A"/>
                  </a:solidFill>
                  <a:latin typeface="Nunito"/>
                  <a:ea typeface="Nunito"/>
                  <a:cs typeface="Nunito"/>
                  <a:sym typeface="Nunito"/>
                </a:rPr>
                <a:t>Custom Python-native agents</a:t>
              </a:r>
              <a:endParaRPr b="0" sz="1000">
                <a:solidFill>
                  <a:srgbClr val="594A3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